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54864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F9E94"/>
                </a:solidFill>
                <a:latin typeface="IPAGothic"/>
              </a:rPr>
              <a:t>エンジニアリング採用 ｜ 月次採用レポート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400" b="1">
                <a:solidFill>
                  <a:srgbClr val="FFFFFF"/>
                </a:solidFill>
                <a:latin typeface="IPAGothic"/>
              </a:rPr>
              <a:t>2026年6月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C7D2E0"/>
                </a:solidFill>
                <a:latin typeface="IPAGothic"/>
              </a:rPr>
              <a:t>2026年6月は採用目標を達成。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00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B7688"/>
                </a:solidFill>
                <a:latin typeface="IPAGothic"/>
              </a:rPr>
              <a:t>採用データ検証 → KPI計算 → サマリー → 提言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688"/>
                </a:solidFill>
                <a:latin typeface="IPAGothic"/>
              </a:rPr>
              <a:t>recruitment-report-builder ｜ 自動生成レポート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E6FB0"/>
                </a:solidFill>
                <a:latin typeface="IPAGothic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1223A"/>
                </a:solidFill>
                <a:latin typeface="IPAGothic"/>
              </a:rPr>
              <a:t>サマリー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91672" cy="19050"/>
          </a:xfrm>
          <a:prstGeom prst="rect">
            <a:avLst/>
          </a:prstGeom>
          <a:solidFill>
            <a:srgbClr val="D9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4572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688"/>
                </a:solidFill>
                <a:latin typeface="IPAGothic"/>
              </a:rPr>
              <a:t>2 /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5394960" cy="448056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600200"/>
            <a:ext cx="5394960" cy="502920"/>
          </a:xfrm>
          <a:prstGeom prst="roundRect">
            <a:avLst>
              <a:gd name="adj" fmla="val 4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IPAGothic"/>
              </a:rPr>
              <a:t>ハイライト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E8B57"/>
                </a:solidFill>
                <a:latin typeface="IPAGothic"/>
              </a:rPr>
              <a:t>✓  </a:t>
            </a:r>
            <a:r>
              <a:rPr sz="1250" b="0">
                <a:solidFill>
                  <a:srgbClr val="333E52"/>
                </a:solidFill>
                <a:latin typeface="IPAGothic"/>
              </a:rPr>
              <a:t>採用数は 48名（前月比 ▲26.3%）、目標 45名を達成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90088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E8B57"/>
                </a:solidFill>
                <a:latin typeface="IPAGothic"/>
              </a:rPr>
              <a:t>✓  </a:t>
            </a:r>
            <a:r>
              <a:rPr sz="1250" b="0">
                <a:solidFill>
                  <a:srgbClr val="333E52"/>
                </a:solidFill>
                <a:latin typeface="IPAGothic"/>
              </a:rPr>
              <a:t>応募数は 430件（前月比 ▲9.1%）で目標超過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48456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E8B57"/>
                </a:solidFill>
                <a:latin typeface="IPAGothic"/>
              </a:rPr>
              <a:t>✓  </a:t>
            </a:r>
            <a:r>
              <a:rPr sz="1250" b="0">
                <a:solidFill>
                  <a:srgbClr val="333E52"/>
                </a:solidFill>
                <a:latin typeface="IPAGothic"/>
              </a:rPr>
              <a:t>内定承諾率 78.7%（前月 74.5%）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06824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E8B57"/>
                </a:solidFill>
                <a:latin typeface="IPAGothic"/>
              </a:rPr>
              <a:t>✓  </a:t>
            </a:r>
            <a:r>
              <a:rPr sz="1250" b="0">
                <a:solidFill>
                  <a:srgbClr val="333E52"/>
                </a:solidFill>
                <a:latin typeface="IPAGothic"/>
              </a:rPr>
              <a:t>採用単価 ¥50,625（前月 ¥60,789）、目標 ¥55,000以内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965192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E8B57"/>
                </a:solidFill>
                <a:latin typeface="IPAGothic"/>
              </a:rPr>
              <a:t>✓  </a:t>
            </a:r>
            <a:r>
              <a:rPr sz="1250" b="0">
                <a:solidFill>
                  <a:srgbClr val="333E52"/>
                </a:solidFill>
                <a:latin typeface="IPAGothic"/>
              </a:rPr>
              <a:t>最も転換率が高いチャネルは リファラル（応募→採用 26.5%）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1600200"/>
            <a:ext cx="5394960" cy="448056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45352" y="1600200"/>
            <a:ext cx="5394960" cy="502920"/>
          </a:xfrm>
          <a:prstGeom prst="roundRect">
            <a:avLst>
              <a:gd name="adj" fmla="val 4000"/>
            </a:avLst>
          </a:prstGeom>
          <a:solidFill>
            <a:srgbClr val="C77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169164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IPAGothic"/>
              </a:rPr>
              <a:t>課題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2331720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77D0A"/>
                </a:solidFill>
                <a:latin typeface="IPAGothic"/>
              </a:rPr>
              <a:t>!  </a:t>
            </a:r>
            <a:r>
              <a:rPr sz="1250" b="0">
                <a:solidFill>
                  <a:srgbClr val="333E52"/>
                </a:solidFill>
                <a:latin typeface="IPAGothic"/>
              </a:rPr>
              <a:t>エージェント は採用単価が 153,750円と突出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E6FB0"/>
                </a:solidFill>
                <a:latin typeface="IPAGothic"/>
              </a:rPr>
              <a:t>RECRUITMENT 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1223A"/>
                </a:solidFill>
                <a:latin typeface="IPAGothic"/>
              </a:rPr>
              <a:t>採用ファネル（当月 vs 前月）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91672" cy="19050"/>
          </a:xfrm>
          <a:prstGeom prst="rect">
            <a:avLst/>
          </a:prstGeom>
          <a:solidFill>
            <a:srgbClr val="D9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4572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688"/>
                </a:solidFill>
                <a:latin typeface="IPAGothic"/>
              </a:rPr>
              <a:t>3 /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92224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1223A"/>
                </a:solidFill>
                <a:latin typeface="IPAGothic"/>
              </a:rPr>
              <a:t>応募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1783080"/>
            <a:ext cx="6583680" cy="384048"/>
          </a:xfrm>
          <a:prstGeom prst="roundRect">
            <a:avLst>
              <a:gd name="adj" fmla="val 3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80360" y="1783080"/>
            <a:ext cx="6583680" cy="384048"/>
          </a:xfrm>
          <a:prstGeom prst="roundRect">
            <a:avLst>
              <a:gd name="adj" fmla="val 30000"/>
            </a:avLst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0" y="1783080"/>
            <a:ext cx="12801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1223A"/>
                </a:solidFill>
                <a:latin typeface="IPAGothic"/>
              </a:rPr>
              <a:t>430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6888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1223A"/>
                </a:solidFill>
                <a:latin typeface="IPAGothic"/>
              </a:rPr>
              <a:t>書類選考通過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0360" y="2459736"/>
            <a:ext cx="6583680" cy="384048"/>
          </a:xfrm>
          <a:prstGeom prst="roundRect">
            <a:avLst>
              <a:gd name="adj" fmla="val 3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80360" y="2459736"/>
            <a:ext cx="4195182" cy="384048"/>
          </a:xfrm>
          <a:prstGeom prst="roundRect">
            <a:avLst>
              <a:gd name="adj" fmla="val 30000"/>
            </a:avLst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2459736"/>
            <a:ext cx="12801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1223A"/>
                </a:solidFill>
                <a:latin typeface="IPAGothic"/>
              </a:rPr>
              <a:t>274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52760" y="2459736"/>
            <a:ext cx="1737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B7688"/>
                </a:solidFill>
                <a:latin typeface="IPAGothic"/>
              </a:rPr>
              <a:t>転換 64%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145536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1223A"/>
                </a:solidFill>
                <a:latin typeface="IPAGothic"/>
              </a:rPr>
              <a:t>一次面接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80360" y="3136392"/>
            <a:ext cx="6583680" cy="384048"/>
          </a:xfrm>
          <a:prstGeom prst="roundRect">
            <a:avLst>
              <a:gd name="adj" fmla="val 3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880360" y="3136392"/>
            <a:ext cx="2970311" cy="384048"/>
          </a:xfrm>
          <a:prstGeom prst="roundRect">
            <a:avLst>
              <a:gd name="adj" fmla="val 30000"/>
            </a:avLst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0" y="3136392"/>
            <a:ext cx="12801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1223A"/>
                </a:solidFill>
                <a:latin typeface="IPAGothic"/>
              </a:rPr>
              <a:t>194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52760" y="3136392"/>
            <a:ext cx="1737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B7688"/>
                </a:solidFill>
                <a:latin typeface="IPAGothic"/>
              </a:rPr>
              <a:t>転換 71%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822192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1223A"/>
                </a:solidFill>
                <a:latin typeface="IPAGothic"/>
              </a:rPr>
              <a:t>最終面接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80360" y="3813048"/>
            <a:ext cx="6583680" cy="384048"/>
          </a:xfrm>
          <a:prstGeom prst="roundRect">
            <a:avLst>
              <a:gd name="adj" fmla="val 3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880360" y="3813048"/>
            <a:ext cx="1653575" cy="384048"/>
          </a:xfrm>
          <a:prstGeom prst="roundRect">
            <a:avLst>
              <a:gd name="adj" fmla="val 30000"/>
            </a:avLst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3813048"/>
            <a:ext cx="12801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1223A"/>
                </a:solidFill>
                <a:latin typeface="IPAGothic"/>
              </a:rPr>
              <a:t>108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52760" y="3813048"/>
            <a:ext cx="1737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B7688"/>
                </a:solidFill>
                <a:latin typeface="IPAGothic"/>
              </a:rPr>
              <a:t>転換 56%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498848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1223A"/>
                </a:solidFill>
                <a:latin typeface="IPAGothic"/>
              </a:rPr>
              <a:t>内定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80360" y="4489704"/>
            <a:ext cx="6583680" cy="384048"/>
          </a:xfrm>
          <a:prstGeom prst="roundRect">
            <a:avLst>
              <a:gd name="adj" fmla="val 3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880360" y="4489704"/>
            <a:ext cx="933963" cy="384048"/>
          </a:xfrm>
          <a:prstGeom prst="roundRect">
            <a:avLst>
              <a:gd name="adj" fmla="val 30000"/>
            </a:avLst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0" y="4489704"/>
            <a:ext cx="12801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1223A"/>
                </a:solidFill>
                <a:latin typeface="IPAGothic"/>
              </a:rPr>
              <a:t>61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52760" y="4489704"/>
            <a:ext cx="1737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B7688"/>
                </a:solidFill>
                <a:latin typeface="IPAGothic"/>
              </a:rPr>
              <a:t>転換 56%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175504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1223A"/>
                </a:solidFill>
                <a:latin typeface="IPAGothic"/>
              </a:rPr>
              <a:t>内定承諾（入社）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880360" y="5166360"/>
            <a:ext cx="6583680" cy="384048"/>
          </a:xfrm>
          <a:prstGeom prst="roundRect">
            <a:avLst>
              <a:gd name="adj" fmla="val 3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880360" y="5166360"/>
            <a:ext cx="734922" cy="384048"/>
          </a:xfrm>
          <a:prstGeom prst="roundRect">
            <a:avLst>
              <a:gd name="adj" fmla="val 3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0" y="5166360"/>
            <a:ext cx="12801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1223A"/>
                </a:solidFill>
                <a:latin typeface="IPAGothic"/>
              </a:rPr>
              <a:t>48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52760" y="5166360"/>
            <a:ext cx="1737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B7688"/>
                </a:solidFill>
                <a:latin typeface="IPAGothic"/>
              </a:rPr>
              <a:t>転換 79%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888736"/>
            <a:ext cx="11091672" cy="77724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6035040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1223A"/>
                </a:solidFill>
                <a:latin typeface="IPAGothic"/>
              </a:rPr>
              <a:t>前月比  </a:t>
            </a:r>
            <a:r>
              <a:rPr sz="1200" b="1">
                <a:solidFill>
                  <a:srgbClr val="2E8B57"/>
                </a:solidFill>
                <a:latin typeface="IPAGothic"/>
              </a:rPr>
              <a:t>応募 ▲9.1%</a:t>
            </a:r>
            <a:r>
              <a:rPr sz="1200" b="0">
                <a:solidFill>
                  <a:srgbClr val="6B7688"/>
                </a:solidFill>
                <a:latin typeface="IPAGothic"/>
              </a:rPr>
              <a:t>     </a:t>
            </a:r>
            <a:r>
              <a:rPr sz="1200" b="1">
                <a:solidFill>
                  <a:srgbClr val="2E8B57"/>
                </a:solidFill>
                <a:latin typeface="IPAGothic"/>
              </a:rPr>
              <a:t>採用 ▲26.3%</a:t>
            </a:r>
            <a:r>
              <a:rPr sz="1200" b="0">
                <a:solidFill>
                  <a:srgbClr val="333E52"/>
                </a:solidFill>
                <a:latin typeface="IPAGothic"/>
              </a:rPr>
              <a:t>     全体転換率 応募→採用 11.2%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E6FB0"/>
                </a:solidFill>
                <a:latin typeface="IPAGothic"/>
              </a:rPr>
              <a:t>KPI 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1223A"/>
                </a:solidFill>
                <a:latin typeface="IPAGothic"/>
              </a:rPr>
              <a:t>KPI達成状況（目標比・前月比）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91672" cy="19050"/>
          </a:xfrm>
          <a:prstGeom prst="rect">
            <a:avLst/>
          </a:prstGeom>
          <a:solidFill>
            <a:srgbClr val="D9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4572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688"/>
                </a:solidFill>
                <a:latin typeface="IPAGothic"/>
              </a:rPr>
              <a:t>4 / 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11091672" cy="457200"/>
          </a:xfrm>
          <a:prstGeom prst="rect">
            <a:avLst/>
          </a:prstGeom>
          <a:solidFill>
            <a:srgbClr val="11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64792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IPAGothic"/>
              </a:rPr>
              <a:t>KPI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764792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IPAGothic"/>
              </a:rPr>
              <a:t>当月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1764792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IPAGothic"/>
              </a:rPr>
              <a:t>前月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764792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IPAGothic"/>
              </a:rPr>
              <a:t>目標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1764792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IPAGothic"/>
              </a:rPr>
              <a:t>前月比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60" y="1764792"/>
            <a:ext cx="19476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IPAGothic"/>
              </a:rPr>
              <a:t>達成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148840"/>
            <a:ext cx="11091672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295144"/>
            <a:ext cx="2560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1223A"/>
                </a:solidFill>
                <a:latin typeface="IPAGothic"/>
              </a:rPr>
              <a:t>応募数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295144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1223A"/>
                </a:solidFill>
                <a:latin typeface="IPAGothic"/>
              </a:rPr>
              <a:t>430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2295144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B7688"/>
                </a:solidFill>
                <a:latin typeface="IPAGothic"/>
              </a:rPr>
              <a:t>394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295144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E52"/>
                </a:solidFill>
                <a:latin typeface="IPAGothic"/>
              </a:rPr>
              <a:t>400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2295144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E8B57"/>
                </a:solidFill>
                <a:latin typeface="IPAGothic"/>
              </a:rPr>
              <a:t>▲9.1%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38360" y="228600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PAGothic"/>
              </a:rPr>
              <a:t>達成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752344"/>
            <a:ext cx="11091672" cy="60350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2898648"/>
            <a:ext cx="2560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1223A"/>
                </a:solidFill>
                <a:latin typeface="IPAGothic"/>
              </a:rPr>
              <a:t>採用数（内定承諾）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2898648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1223A"/>
                </a:solidFill>
                <a:latin typeface="IPAGothic"/>
              </a:rPr>
              <a:t>48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2898648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B7688"/>
                </a:solidFill>
                <a:latin typeface="IPAGothic"/>
              </a:rPr>
              <a:t>38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98648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E52"/>
                </a:solidFill>
                <a:latin typeface="IPAGothic"/>
              </a:rPr>
              <a:t>45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2898648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E8B57"/>
                </a:solidFill>
                <a:latin typeface="IPAGothic"/>
              </a:rPr>
              <a:t>▲26.3%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38360" y="2889504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PAGothic"/>
              </a:rPr>
              <a:t>達成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355848"/>
            <a:ext cx="11091672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3502152"/>
            <a:ext cx="2560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1223A"/>
                </a:solidFill>
                <a:latin typeface="IPAGothic"/>
              </a:rPr>
              <a:t>書類選考通過率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3502152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1223A"/>
                </a:solidFill>
                <a:latin typeface="IPAGothic"/>
              </a:rPr>
              <a:t>63.7%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4920" y="3502152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B7688"/>
                </a:solidFill>
                <a:latin typeface="IPAGothic"/>
              </a:rPr>
              <a:t>61.7%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3502152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E52"/>
                </a:solidFill>
                <a:latin typeface="IPAGothic"/>
              </a:rPr>
              <a:t>60.0%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80" y="3502152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E8B57"/>
                </a:solidFill>
                <a:latin typeface="IPAGothic"/>
              </a:rPr>
              <a:t>▲3.3%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738360" y="3493008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PAGothic"/>
              </a:rPr>
              <a:t>達成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959352"/>
            <a:ext cx="11091672" cy="60350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105656"/>
            <a:ext cx="2560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1223A"/>
                </a:solidFill>
                <a:latin typeface="IPAGothic"/>
              </a:rPr>
              <a:t>内定承諾率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0440" y="4105656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1223A"/>
                </a:solidFill>
                <a:latin typeface="IPAGothic"/>
              </a:rPr>
              <a:t>78.7%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74920" y="4105656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B7688"/>
                </a:solidFill>
                <a:latin typeface="IPAGothic"/>
              </a:rPr>
              <a:t>74.5%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4105656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E52"/>
                </a:solidFill>
                <a:latin typeface="IPAGothic"/>
              </a:rPr>
              <a:t>75.0%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3880" y="4105656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E8B57"/>
                </a:solidFill>
                <a:latin typeface="IPAGothic"/>
              </a:rPr>
              <a:t>▲5.6%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738360" y="4096512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PAGothic"/>
              </a:rPr>
              <a:t>達成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562856"/>
            <a:ext cx="11091672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4709160"/>
            <a:ext cx="2560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1223A"/>
                </a:solidFill>
                <a:latin typeface="IPAGothic"/>
              </a:rPr>
              <a:t>応募→採用 転換率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20440" y="470916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1223A"/>
                </a:solidFill>
                <a:latin typeface="IPAGothic"/>
              </a:rPr>
              <a:t>11.2%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74920" y="470916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B7688"/>
                </a:solidFill>
                <a:latin typeface="IPAGothic"/>
              </a:rPr>
              <a:t>9.6%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70916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E52"/>
                </a:solidFill>
                <a:latin typeface="IPAGothic"/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83880" y="470916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E8B57"/>
                </a:solidFill>
                <a:latin typeface="IPAGothic"/>
              </a:rPr>
              <a:t>▲15.7%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38360" y="4709160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B7688"/>
                </a:solidFill>
                <a:latin typeface="IPAGothic"/>
              </a:rPr>
              <a:t>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166360"/>
            <a:ext cx="11091672" cy="60350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" y="5312664"/>
            <a:ext cx="2560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1223A"/>
                </a:solidFill>
                <a:latin typeface="IPAGothic"/>
              </a:rPr>
              <a:t>採用単価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20440" y="5312664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1223A"/>
                </a:solidFill>
                <a:latin typeface="IPAGothic"/>
              </a:rPr>
              <a:t>¥50,625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74920" y="5312664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B7688"/>
                </a:solidFill>
                <a:latin typeface="IPAGothic"/>
              </a:rPr>
              <a:t>¥60,789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29400" y="5312664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E52"/>
                </a:solidFill>
                <a:latin typeface="IPAGothic"/>
              </a:rPr>
              <a:t>¥55,000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83880" y="5312664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E8B57"/>
                </a:solidFill>
                <a:latin typeface="IPAGothic"/>
              </a:rPr>
              <a:t>▼16.7%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738360" y="530352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PAGothic"/>
              </a:rPr>
              <a:t>達成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5934456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688"/>
                </a:solidFill>
                <a:latin typeface="IPAGothic"/>
              </a:rPr>
              <a:t>※ 採用単価は目標以下（低いほど良い）で達成と判定。数値は検証済み明細合計に基づく。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E6FB0"/>
                </a:solidFill>
                <a:latin typeface="IPAGothic"/>
              </a:rPr>
              <a:t>CHANNEL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1223A"/>
                </a:solidFill>
                <a:latin typeface="IPAGothic"/>
              </a:rPr>
              <a:t>媒体別パフォーマンス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91672" cy="19050"/>
          </a:xfrm>
          <a:prstGeom prst="rect">
            <a:avLst/>
          </a:prstGeom>
          <a:solidFill>
            <a:srgbClr val="D9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4572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688"/>
                </a:solidFill>
                <a:latin typeface="IPAGothic"/>
              </a:rPr>
              <a:t>5 / 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11091672" cy="457200"/>
          </a:xfrm>
          <a:prstGeom prst="rect">
            <a:avLst/>
          </a:prstGeom>
          <a:solidFill>
            <a:srgbClr val="11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810512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IPAGothic"/>
              </a:rPr>
              <a:t>媒体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35808" y="1810512"/>
            <a:ext cx="11521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IPAGothic"/>
              </a:rPr>
              <a:t>応募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7408" y="1810512"/>
            <a:ext cx="11521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IPAGothic"/>
              </a:rPr>
              <a:t>採用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79008" y="1810512"/>
            <a:ext cx="13350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IPAGothic"/>
              </a:rPr>
              <a:t>承諾率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33488" y="1810512"/>
            <a:ext cx="13350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IPAGothic"/>
              </a:rPr>
              <a:t>転換率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87968" y="1810512"/>
            <a:ext cx="12435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IPAGothic"/>
              </a:rPr>
              <a:t>費用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51008" y="1810512"/>
            <a:ext cx="11795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IPAGothic"/>
              </a:rPr>
              <a:t>採用単価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194560"/>
            <a:ext cx="11091672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313432"/>
            <a:ext cx="215798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1223A"/>
                </a:solidFill>
                <a:latin typeface="IPAGothic"/>
              </a:rPr>
              <a:t>リクナビ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35808" y="2313432"/>
            <a:ext cx="115214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E52"/>
                </a:solidFill>
                <a:latin typeface="IPAGothic"/>
              </a:rPr>
              <a:t>142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2313432"/>
            <a:ext cx="115214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1223A"/>
                </a:solidFill>
                <a:latin typeface="IPAGothic"/>
              </a:rPr>
              <a:t>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79008" y="2313432"/>
            <a:ext cx="133502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E52"/>
                </a:solidFill>
                <a:latin typeface="IPAGothic"/>
              </a:rPr>
              <a:t>78%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3488" y="2313432"/>
            <a:ext cx="133502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E52"/>
                </a:solidFill>
                <a:latin typeface="IPAGothic"/>
              </a:rPr>
              <a:t>9.9%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8" y="2313432"/>
            <a:ext cx="124358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E52"/>
                </a:solidFill>
                <a:latin typeface="IPAGothic"/>
              </a:rPr>
              <a:t>¥480,000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51008" y="2313432"/>
            <a:ext cx="11795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1223A"/>
                </a:solidFill>
                <a:latin typeface="IPAGothic"/>
              </a:rPr>
              <a:t>¥34,286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743200"/>
            <a:ext cx="11091672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2862072"/>
            <a:ext cx="215798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1223A"/>
                </a:solidFill>
                <a:latin typeface="IPAGothic"/>
              </a:rPr>
              <a:t>マイナビ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35808" y="2862072"/>
            <a:ext cx="115214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E52"/>
                </a:solidFill>
                <a:latin typeface="IPAGothic"/>
              </a:rPr>
              <a:t>118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7408" y="2862072"/>
            <a:ext cx="115214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1223A"/>
                </a:solidFill>
                <a:latin typeface="IPAGothic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79008" y="2862072"/>
            <a:ext cx="133502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E52"/>
                </a:solidFill>
                <a:latin typeface="IPAGothic"/>
              </a:rPr>
              <a:t>77%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3488" y="2862072"/>
            <a:ext cx="133502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E52"/>
                </a:solidFill>
                <a:latin typeface="IPAGothic"/>
              </a:rPr>
              <a:t>8.5%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87968" y="2862072"/>
            <a:ext cx="124358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E52"/>
                </a:solidFill>
                <a:latin typeface="IPAGothic"/>
              </a:rPr>
              <a:t>¥420,000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51008" y="2862072"/>
            <a:ext cx="11795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1223A"/>
                </a:solidFill>
                <a:latin typeface="IPAGothic"/>
              </a:rPr>
              <a:t>¥42,000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291840"/>
            <a:ext cx="11091672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3410712"/>
            <a:ext cx="215798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1223A"/>
                </a:solidFill>
                <a:latin typeface="IPAGothic"/>
              </a:rPr>
              <a:t>Indeed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35808" y="3410712"/>
            <a:ext cx="115214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E52"/>
                </a:solidFill>
                <a:latin typeface="IPAGothic"/>
              </a:rPr>
              <a:t>95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07408" y="3410712"/>
            <a:ext cx="115214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1223A"/>
                </a:solidFill>
                <a:latin typeface="IPAGothic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79008" y="3410712"/>
            <a:ext cx="133502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E52"/>
                </a:solidFill>
                <a:latin typeface="IPAGothic"/>
              </a:rPr>
              <a:t>78%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33488" y="3410712"/>
            <a:ext cx="133502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E52"/>
                </a:solidFill>
                <a:latin typeface="IPAGothic"/>
              </a:rPr>
              <a:t>7.4%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87968" y="3410712"/>
            <a:ext cx="124358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E52"/>
                </a:solidFill>
                <a:latin typeface="IPAGothic"/>
              </a:rPr>
              <a:t>¥210,000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51008" y="3410712"/>
            <a:ext cx="11795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1223A"/>
                </a:solidFill>
                <a:latin typeface="IPAGothic"/>
              </a:rPr>
              <a:t>¥30,000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3840480"/>
            <a:ext cx="11091672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3959352"/>
            <a:ext cx="215798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1223A"/>
                </a:solidFill>
                <a:latin typeface="IPAGothic"/>
              </a:rPr>
              <a:t>リファラル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35808" y="3959352"/>
            <a:ext cx="115214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E52"/>
                </a:solidFill>
                <a:latin typeface="IPAGothic"/>
              </a:rPr>
              <a:t>34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07408" y="3959352"/>
            <a:ext cx="115214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1223A"/>
                </a:solidFill>
                <a:latin typeface="IPAGothic"/>
              </a:rPr>
              <a:t>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79008" y="3959352"/>
            <a:ext cx="133502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E52"/>
                </a:solidFill>
                <a:latin typeface="IPAGothic"/>
              </a:rPr>
              <a:t>82%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33488" y="3959352"/>
            <a:ext cx="133502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E52"/>
                </a:solidFill>
                <a:latin typeface="IPAGothic"/>
              </a:rPr>
              <a:t>26.5%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87968" y="3959352"/>
            <a:ext cx="124358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E52"/>
                </a:solidFill>
                <a:latin typeface="IPAGothic"/>
              </a:rPr>
              <a:t>¥90,000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51008" y="3959352"/>
            <a:ext cx="11795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1223A"/>
                </a:solidFill>
                <a:latin typeface="IPAGothic"/>
              </a:rPr>
              <a:t>¥10,000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4389120"/>
            <a:ext cx="11091672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" y="4507992"/>
            <a:ext cx="215798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1223A"/>
                </a:solidFill>
                <a:latin typeface="IPAGothic"/>
              </a:rPr>
              <a:t>エージェント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35808" y="4507992"/>
            <a:ext cx="115214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E52"/>
                </a:solidFill>
                <a:latin typeface="IPAGothic"/>
              </a:rPr>
              <a:t>41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07408" y="4507992"/>
            <a:ext cx="115214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1223A"/>
                </a:solidFill>
                <a:latin typeface="IPAGothic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79008" y="4507992"/>
            <a:ext cx="133502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E52"/>
                </a:solidFill>
                <a:latin typeface="IPAGothic"/>
              </a:rPr>
              <a:t>80%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33488" y="4507992"/>
            <a:ext cx="133502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E52"/>
                </a:solidFill>
                <a:latin typeface="IPAGothic"/>
              </a:rPr>
              <a:t>19.5%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87968" y="4507992"/>
            <a:ext cx="124358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33E52"/>
                </a:solidFill>
                <a:latin typeface="IPAGothic"/>
              </a:rPr>
              <a:t>¥1,230,000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51008" y="4507992"/>
            <a:ext cx="11795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03A3A"/>
                </a:solidFill>
                <a:latin typeface="IPAGothic"/>
              </a:rPr>
              <a:t>¥153,750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4937760"/>
            <a:ext cx="11091672" cy="548640"/>
          </a:xfrm>
          <a:prstGeom prst="rect">
            <a:avLst/>
          </a:prstGeom>
          <a:solidFill>
            <a:srgbClr val="E7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8368" y="5056632"/>
            <a:ext cx="215798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1223A"/>
                </a:solidFill>
                <a:latin typeface="IPAGothic"/>
              </a:rPr>
              <a:t>合計 / 平均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035808" y="5056632"/>
            <a:ext cx="115214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1223A"/>
                </a:solidFill>
                <a:latin typeface="IPAGothic"/>
              </a:rPr>
              <a:t>430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07408" y="5056632"/>
            <a:ext cx="115214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1223A"/>
                </a:solidFill>
                <a:latin typeface="IPAGothic"/>
              </a:rPr>
              <a:t>48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779008" y="5056632"/>
            <a:ext cx="133502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B7688"/>
                </a:solidFill>
                <a:latin typeface="IPAGothic"/>
              </a:rPr>
              <a:t>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33488" y="5056632"/>
            <a:ext cx="133502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1223A"/>
                </a:solidFill>
                <a:latin typeface="IPAGothic"/>
              </a:rPr>
              <a:t>11.2%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887968" y="5056632"/>
            <a:ext cx="124358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1223A"/>
                </a:solidFill>
                <a:latin typeface="IPAGothic"/>
              </a:rPr>
              <a:t>¥2,430,000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351008" y="5056632"/>
            <a:ext cx="11795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1223A"/>
                </a:solidFill>
                <a:latin typeface="IPAGothic"/>
              </a:rPr>
              <a:t>¥50,625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688"/>
                </a:solidFill>
                <a:latin typeface="IPAGothic"/>
              </a:rPr>
              <a:t>赤字＝採用単価が最も高い媒体。リファラルは低単価・高転換で費用対効果が高い。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E6FB0"/>
                </a:solidFill>
                <a:latin typeface="IPAGothic"/>
              </a:rPr>
              <a:t>NEXT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1223A"/>
                </a:solidFill>
                <a:latin typeface="IPAGothic"/>
              </a:rPr>
              <a:t>次月アクション・提言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91672" cy="19050"/>
          </a:xfrm>
          <a:prstGeom prst="rect">
            <a:avLst/>
          </a:prstGeom>
          <a:solidFill>
            <a:srgbClr val="D9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4572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688"/>
                </a:solidFill>
                <a:latin typeface="IPAGothic"/>
              </a:rPr>
              <a:t>6 /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IPAGothi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783080"/>
            <a:ext cx="10332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333E52"/>
                </a:solidFill>
                <a:latin typeface="IPAGothic"/>
              </a:rPr>
              <a:t>リファラルへの配分を増やし、高効率チャネルを強化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871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48716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IPA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532888"/>
            <a:ext cx="10332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333E52"/>
                </a:solidFill>
                <a:latin typeface="IPAGothic"/>
              </a:rPr>
              <a:t>エージェントのコスト対効果を精査し、単価適正化を交渉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3697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3697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IPA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282696"/>
            <a:ext cx="10332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333E52"/>
                </a:solidFill>
                <a:latin typeface="IPAGothic"/>
              </a:rPr>
              <a:t>書類選考通過率 63.7% の質を維持しつつ母集団を拡大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8678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8678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IPAGothic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032504"/>
            <a:ext cx="10332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333E52"/>
                </a:solidFill>
                <a:latin typeface="IPAGothic"/>
              </a:rPr>
              <a:t>内定承諾率の維持に向け、内定者フォロー（面談・オファー面談）を継続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623560"/>
            <a:ext cx="11091672" cy="777240"/>
          </a:xfrm>
          <a:prstGeom prst="roundRect">
            <a:avLst>
              <a:gd name="adj" fmla="val 5000"/>
            </a:avLst>
          </a:prstGeom>
          <a:solidFill>
            <a:srgbClr val="11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769864"/>
            <a:ext cx="10515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F9E94"/>
                </a:solidFill>
                <a:latin typeface="IPAGothic"/>
              </a:rPr>
              <a:t>来月目標   </a:t>
            </a:r>
            <a:r>
              <a:rPr sz="1300" b="1">
                <a:solidFill>
                  <a:srgbClr val="FFFFFF"/>
                </a:solidFill>
                <a:latin typeface="IPAGothic"/>
              </a:rPr>
              <a:t>採用数 維持 48名+  /  </a:t>
            </a:r>
            <a:r>
              <a:rPr sz="1300" b="1">
                <a:solidFill>
                  <a:srgbClr val="FFFFFF"/>
                </a:solidFill>
                <a:latin typeface="IPAGothic"/>
              </a:rPr>
              <a:t>採用単価 ¥55,000 以内継続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