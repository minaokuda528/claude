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応募数</c:v>
                </c:pt>
              </c:strCache>
            </c:strRef>
          </c:tx>
          <c:spPr>
            <a:solidFill>
              <a:srgbClr val="2E5E8C"/>
            </a:solidFill>
          </c:spPr>
          <c:cat>
            <c:strRef>
              <c:f>Sheet1!$A$2:$A$4</c:f>
              <c:strCache>
                <c:ptCount val="3"/>
                <c:pt idx="0">
                  <c:v>Indeed</c:v>
                </c:pt>
                <c:pt idx="1">
                  <c:v>求人ボックス</c:v>
                </c:pt>
                <c:pt idx="2">
                  <c:v>エンゲージ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6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応募数</c:v>
                </c:pt>
              </c:strCache>
            </c:strRef>
          </c:tx>
          <c:spPr>
            <a:solidFill>
              <a:srgbClr val="2E5E8C"/>
            </a:solidFill>
          </c:spPr>
          <c:cat>
            <c:strRef>
              <c:f>Sheet1!$A$2:$A$4</c:f>
              <c:strCache>
                <c:ptCount val="3"/>
                <c:pt idx="0">
                  <c:v>法人営業</c:v>
                </c:pt>
                <c:pt idx="1">
                  <c:v>一般事務</c:v>
                </c:pt>
                <c:pt idx="2">
                  <c:v>コールセンタースタッフ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34</c:v>
                </c:pt>
                <c:pt idx="2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応募数</c:v>
                </c:pt>
              </c:strCache>
            </c:strRef>
          </c:tx>
          <c:spPr>
            <a:solidFill>
              <a:srgbClr val="2E5E8C"/>
            </a:solidFill>
          </c:spPr>
          <c:cat>
            <c:strRef>
              <c:f>Sheet1!$A$2:$A$3</c:f>
              <c:strCache>
                <c:ptCount val="2"/>
                <c:pt idx="0">
                  <c:v>東京</c:v>
                </c:pt>
                <c:pt idx="1">
                  <c:v>大阪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73736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求人媒体 月次結果報告書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Meiryo"/>
              </a:rPr>
              <a:t>対象期間: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Meiryo"/>
              </a:rPr>
              <a:t>株式会社サンプル採用企画　採用マーケティング部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Meiryo"/>
              </a:rPr>
              <a:t>作成日: 2026-07-13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eiryo"/>
              </a:rPr>
              <a:t>［ロゴ］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383280" cy="173736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応募数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98</a:t>
            </a:r>
          </a:p>
          <a:p>
            <a:pPr algn="ctr"/>
            <a:r>
              <a:rPr sz="1200">
                <a:solidFill>
                  <a:srgbClr val="222222"/>
                </a:solidFill>
                <a:latin typeface="Meiryo"/>
              </a:rPr>
              <a:t>+24.1%（前月比）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383280" cy="173736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採用数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9名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371600"/>
            <a:ext cx="3383280" cy="173736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応募単価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6,480円</a:t>
            </a:r>
          </a:p>
          <a:p>
            <a:pPr algn="ctr"/>
            <a:r>
              <a:rPr sz="1200">
                <a:solidFill>
                  <a:srgbClr val="222222"/>
                </a:solidFill>
                <a:latin typeface="Meiryo"/>
              </a:rPr>
              <a:t>+11.3%（前月比）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E8C"/>
                </a:solidFill>
                <a:latin typeface="Meiryo"/>
              </a:rPr>
              <a:t>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・【事実】当月の応募数は98件、採用数は9名、広告費は635,000円でした。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・【事実】全体の応募単価（応募1件あたりの広告費）は6,480円です。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・【事実】応募数は前月比+24.1%と増加しました。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・【事実】全体の応募単価は前月比+11.3%と上昇しました。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8C"/>
                </a:solidFill>
                <a:latin typeface="Meiryo"/>
              </a:rPr>
              <a:t>要確認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・【要確認】当月データの合計行の応募数（103件）が明細の合計（98件）と一致しません。媒体管理画面の値をご確認ください（本サマリーは明細合計98件で集計しています）。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当月の応募は98件（前月比+24.1%）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560320" cy="14630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表示数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114,000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63040"/>
            <a:ext cx="2560320" cy="14630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クリック数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5,170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2560320" cy="14630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応募数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98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6839" y="1463040"/>
            <a:ext cx="2560320" cy="14630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採用数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2560320" cy="14630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クリック率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4.5%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3200400"/>
            <a:ext cx="2560320" cy="14630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応募率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1.9%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2560320" cy="14630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応募単価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6,480円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39" y="3200400"/>
            <a:ext cx="2560320" cy="1463040"/>
          </a:xfrm>
          <a:prstGeom prst="rect">
            <a:avLst/>
          </a:prstGeom>
          <a:solidFill>
            <a:srgbClr val="F2F4F7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595959"/>
                </a:solidFill>
                <a:latin typeface="Meiryo"/>
              </a:rPr>
              <a:t>採用単価</a:t>
            </a:r>
          </a:p>
          <a:p>
            <a:pPr algn="ctr"/>
            <a:r>
              <a:rPr sz="3400" b="1">
                <a:solidFill>
                  <a:srgbClr val="2E5E8C"/>
                </a:solidFill>
                <a:latin typeface="Meiryo"/>
              </a:rPr>
              <a:t>70,556円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eiryo"/>
              </a:rPr>
              <a:t>広告費: 635,000円　／　応募数 目標比: 105.4%　／　応募単価 目標比: 未設定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応募数はIndeedが最多（媒体別）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463040"/>
          <a:ext cx="5212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媒体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応募数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応募単価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採用数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応募数前月比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Indeed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4,571円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+29.6%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求人ボックス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35,833円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-60.0%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エンゲージ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4,545円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+120.0%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5669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eiryo"/>
              </a:rPr>
              <a:t>※棒グラフは応募数。応募単価は右表に併記（算出不可・未設定はその旨を表示）。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応募数は法人営業が最多（職種別）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463040"/>
          <a:ext cx="5212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職種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応募数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応募単価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採用数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応募数前月比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法人営業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5,122円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+24.2%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一般事務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34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6,912円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+3.0%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コールセンタースタッフ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8,261円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+76.9%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5669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eiryo"/>
              </a:rPr>
              <a:t>※棒グラフは応募数。応募単価は右表に併記（算出不可・未設定はその旨を表示）。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応募数は東京が最多（拠点別）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463040"/>
          <a:ext cx="52120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拠点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応募数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応募単価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採用数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応募数前月比</a:t>
                      </a:r>
                    </a:p>
                  </a:txBody>
                  <a:tcPr>
                    <a:solidFill>
                      <a:srgbClr val="2E5E8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東京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4,808円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+47.2%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大阪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20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13,000円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Meiryo"/>
                        </a:rPr>
                        <a:t>-23.1%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5669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eiryo"/>
              </a:rPr>
              <a:t>※棒グラフは応募数。応募単価は右表に併記（算出不可・未設定はその旨を表示）。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好調な求人と要改善の求人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E8C"/>
                </a:solidFill>
                <a:latin typeface="Meiryo"/>
              </a:rPr>
              <a:t>好調な求人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・Indeed 法人営業 東京（応募数目標比100%・応募数前月比+50%）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・Indeed 一般事務 東京（応募数目標比107.1%・応募数前月比+20%）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・Indeed コールセンタースタッフ 大阪（応募数目標比100%）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・エンゲージ 法人営業 東京（応募数目標比120%・応募数前月比+20%）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5E8C"/>
                </a:solidFill>
                <a:latin typeface="Meiryo"/>
              </a:rPr>
              <a:t>要改善の求人（優先度順）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1. [高] 求人ボックス 一般事務 東京（応募0件で広告費45,000円が発生）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2. [高] 求人ボックス コールセンタースタッフ 大阪（応募単価80,000円が警告閾値50,000円を超過）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3. [中] Indeed 一般事務 東京（応募単価目標比125%（目標超過））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4. [中] 求人ボックス 法人営業 大阪（応募単価目標比225%（目標超過） / 応募数前月比-37.5%）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Meiryo"/>
              </a:rPr>
              <a:t>5. [中] エンゲージ 一般事務 大阪（応募単価目標比125%（目標超過） / 応募数前月比-20%）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課題分析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・【事実】求人ボックス 一般事務 東京: 応募0件（前月3件、前月比−100.0%）。広告費45,000円に対し応募単価は算出不可です。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・【事実】求人ボックス コールセンタースタッフ 大阪: 応募1件、応募単価80,000円で警告閾値（50,000円）を超過しています（前月比+357.1%）。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・【事実】求人ボックス 法人営業 大阪: クリック1,500件に対し応募5件で応募率0.3%、応募単価18,000円（目標比225.0%）、採用0名でした。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・【事実】Indeed 一般事務 東京: 応募は30件（前月比+20.0%）に増えた一方、応募単価は5,000円（前月比+66.7%、目標比125.0%）と悪化しました。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・【事実】エンゲージ 一般事務 大阪: 応募4件（前月比−20.0%）、応募単価10,000円（目標比125.0%）でした。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次月の改善案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1. 【優先度: 高】求人ボックス 一般事務 東京 — 応募0件で広告費45,000円が発生。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2. 【優先度: 高】求人ボックス コールセンタースタッフ 大阪 — 応募単価80,000円が警告閾値50,000円を超過。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3. 【優先度: 中】Indeed 一般事務 東京 — 応募単価目標比125%（目標超過）。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4. 【優先度: 中】求人ボックス 法人営業 大阪 — 応募単価目標比225%・応募数前月比−37.5%。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5. 【優先度: 中】エンゲージ 一般事務 大阪 — 応募単価目標比125%・応募数前月比−20.0%。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・【示唆】求人ボックス 一般事務 東京は、掲載内容の見直し、または予算の再配分を検討する余地があります（根拠: 応募0件・広告費45,000円）。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・【示唆】求人ボックス コールセンタースタッフ 大阪は、掲載継続の可否を含めた見直しを検討する余地があります（根拠: 応募1件・応募単価80,000円）。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・【示唆】求人ボックス 法人営業 大阪は、クリック後の離脱が大きいため、求人原稿の条件記載や応募導線を見直す余地があります（根拠: クリック1,500件・応募率0.3%）。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・【示唆】Indeed 一般事務 東京は、キャンペーンの費用対効果を確認のうえ、継続可否を判断することが考えられます（根拠: 応募単価前月比+66.7%・目標比125.0%）。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要確認事項（人による確認が必要）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eiry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・【要確認】当月データの合計行の応募数（103件）が明細の合計（98件）と一致しません。媒体管理画面の値をご確認ください（本サマリーは明細合計98件で集計しています）。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・【要確認】Indeed コールセンタースタッフ 大阪の表示数・面接数が空欄のため、クリック率・面接設定率は算出不可です。取得可能であればご提供ください。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・【要確認】エンゲージ 法人営業 東京は広告費0円で応募6件です。無料掲載・オーガニック応募かをご確認ください（費用対効果の評価から除外しています）。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・【要確認】エンゲージ コールセンタースタッフ 東京は当月新規掲載のため前月比較はできません。また目標値が未設定です（応募12件・応募単価5,000円）。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・【要確認】求人ボックス コールセンタースタッフ 大阪の目標値が未設定です。次月に向けた目標設定をご検討ください。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Meiryo"/>
              </a:rPr>
              <a:t>・【要確認】単価悪化・応募減少の原因（掲載順位・競合状況など）はデータからは判断できません。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