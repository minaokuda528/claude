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11183112" cy="5852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6E6E6E"/>
                </a:solidFill>
                <a:latin typeface="Yu Gothic"/>
                <a:ea typeface="Yu Gothic"/>
              </a:rPr>
              <a:t>LOVE TYPE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3A3A3A"/>
                </a:solidFill>
                <a:latin typeface="Yu Gothic"/>
                <a:ea typeface="Yu Gothic"/>
              </a:rPr>
              <a:t>累計8,000万回、診断された恋。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0609E"/>
                </a:solidFill>
                <a:latin typeface="Yu Gothic"/>
                <a:ea typeface="Yu Gothic"/>
              </a:rPr>
              <a:t>Z世代の恋愛スタンダード「ラブタイプ診断」のご紹介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94760"/>
            <a:ext cx="2411730" cy="1234440"/>
          </a:xfrm>
          <a:prstGeom prst="roundRect">
            <a:avLst>
              <a:gd name="adj" fmla="val 10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24117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F0609E"/>
                </a:solidFill>
                <a:latin typeface="Yu Gothic"/>
                <a:ea typeface="Yu Gothic"/>
              </a:rPr>
              <a:t>80M+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24117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累計診断数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54730" y="3794760"/>
            <a:ext cx="2411730" cy="1234440"/>
          </a:xfrm>
          <a:prstGeom prst="roundRect">
            <a:avLst>
              <a:gd name="adj" fmla="val 10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4730" y="3977639"/>
            <a:ext cx="24117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4FC3E0"/>
                </a:solidFill>
                <a:latin typeface="Yu Gothic"/>
                <a:ea typeface="Yu Gothic"/>
              </a:rPr>
              <a:t>40MUU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4730" y="4572000"/>
            <a:ext cx="24117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総ユニークユーザー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3794760"/>
            <a:ext cx="2411730" cy="1234440"/>
          </a:xfrm>
          <a:prstGeom prst="roundRect">
            <a:avLst>
              <a:gd name="adj" fmla="val 10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5060" y="3977639"/>
            <a:ext cx="24117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2BB8A8"/>
                </a:solidFill>
                <a:latin typeface="Yu Gothic"/>
                <a:ea typeface="Yu Gothic"/>
              </a:rPr>
              <a:t>40万人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5060" y="4572000"/>
            <a:ext cx="24117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LINE友だち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5390" y="3794760"/>
            <a:ext cx="2411730" cy="1234440"/>
          </a:xfrm>
          <a:prstGeom prst="roundRect">
            <a:avLst>
              <a:gd name="adj" fmla="val 10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35390" y="3977639"/>
            <a:ext cx="24117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9B7FD4"/>
                </a:solidFill>
                <a:latin typeface="Yu Gothic"/>
                <a:ea typeface="Yu Gothic"/>
              </a:rPr>
              <a:t>¥0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5390" y="4572000"/>
            <a:ext cx="24117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広告費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E6E6E"/>
                </a:solidFill>
                <a:latin typeface="Yu Gothic"/>
                <a:ea typeface="Yu Gothic"/>
              </a:rPr>
              <a:t>広告費¥0・SNSオーガニックのみで拡大した恋愛診断IP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株式会社ラブキャラ Love Chara Inc.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ラブタイプ診断とは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自分の恋愛性格を4つの軸で分析し、16種の恋愛タイプキャラクターに分類する診断コンテンツ。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Z世代が開発し、広告費ゼロ・SNSシェアの連鎖だけで育った「恋愛版の性格診断スタンダード」です。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31720"/>
            <a:ext cx="2446020" cy="3108960"/>
          </a:xfrm>
          <a:prstGeom prst="roundRect">
            <a:avLst>
              <a:gd name="adj" fmla="val 8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331720"/>
            <a:ext cx="2446020" cy="109728"/>
          </a:xfrm>
          <a:prstGeom prst="roundRect">
            <a:avLst>
              <a:gd name="adj" fmla="val 50000"/>
            </a:avLst>
          </a:prstGeom>
          <a:solidFill>
            <a:srgbClr val="F0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22631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F0609E"/>
                </a:solidFill>
                <a:latin typeface="Yu Gothic"/>
                <a:ea typeface="Yu Gothic"/>
              </a:rPr>
              <a:t>80M+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11879"/>
            <a:ext cx="22631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累計診断数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39" y="4023360"/>
            <a:ext cx="21717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E6E6E"/>
                </a:solidFill>
                <a:latin typeface="Yu Gothic"/>
                <a:ea typeface="Yu Gothic"/>
              </a:rPr>
              <a:t>ラブタイプ診断累計
約8,000万回以上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3300" y="2331720"/>
            <a:ext cx="2446020" cy="310896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43300" y="2331720"/>
            <a:ext cx="2446020" cy="109728"/>
          </a:xfrm>
          <a:prstGeom prst="roundRect">
            <a:avLst>
              <a:gd name="adj" fmla="val 50000"/>
            </a:avLst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4740" y="2743200"/>
            <a:ext cx="22631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4FC3E0"/>
                </a:solidFill>
                <a:latin typeface="Yu Gothic"/>
                <a:ea typeface="Yu Gothic"/>
              </a:rPr>
              <a:t>40MUU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4740" y="3611879"/>
            <a:ext cx="22631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総ユニークユーザー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0460" y="4023360"/>
            <a:ext cx="21717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E6E6E"/>
                </a:solidFill>
                <a:latin typeface="Yu Gothic"/>
                <a:ea typeface="Yu Gothic"/>
              </a:rPr>
              <a:t>国内+台湾150万
+韓国150万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331720"/>
            <a:ext cx="2446020" cy="3108960"/>
          </a:xfrm>
          <a:prstGeom prst="roundRect">
            <a:avLst>
              <a:gd name="adj" fmla="val 8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331720"/>
            <a:ext cx="2446020" cy="109728"/>
          </a:xfrm>
          <a:prstGeom prst="roundRect">
            <a:avLst>
              <a:gd name="adj" fmla="val 50000"/>
            </a:avLst>
          </a:prstGeom>
          <a:solidFill>
            <a:srgbClr val="2B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2743200"/>
            <a:ext cx="22631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2BB8A8"/>
                </a:solidFill>
                <a:latin typeface="Yu Gothic"/>
                <a:ea typeface="Yu Gothic"/>
              </a:rPr>
              <a:t>40万人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611879"/>
            <a:ext cx="22631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LINE友だち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023360"/>
            <a:ext cx="21717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E6E6E"/>
                </a:solidFill>
                <a:latin typeface="Yu Gothic"/>
                <a:ea typeface="Yu Gothic"/>
              </a:rPr>
              <a:t>65%以上が15〜25歳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2539" y="2331720"/>
            <a:ext cx="2446020" cy="3108960"/>
          </a:xfrm>
          <a:prstGeom prst="roundRect">
            <a:avLst>
              <a:gd name="adj" fmla="val 8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92539" y="2331720"/>
            <a:ext cx="2446020" cy="109728"/>
          </a:xfrm>
          <a:prstGeom prst="roundRect">
            <a:avLst>
              <a:gd name="adj" fmla="val 50000"/>
            </a:avLst>
          </a:prstGeom>
          <a:solidFill>
            <a:srgbClr val="9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3979" y="2743200"/>
            <a:ext cx="22631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9B7FD4"/>
                </a:solidFill>
                <a:latin typeface="Yu Gothic"/>
                <a:ea typeface="Yu Gothic"/>
              </a:rPr>
              <a:t>¥0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3979" y="3611879"/>
            <a:ext cx="22631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広告費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9699" y="4023360"/>
            <a:ext cx="21717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E6E6E"/>
                </a:solidFill>
                <a:latin typeface="Yu Gothic"/>
                <a:ea typeface="Yu Gothic"/>
              </a:rPr>
              <a:t>SNSオーガニック中心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0644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「診断する→キャラになる→シェアする」。この体験そのものが広告として機能しています。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WHY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広告費ゼロで8,000万回。バズが"自走"する構造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ラブタイプ診断の拡散は、キャンペーンではなく体験設計によって生まれています。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5740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5856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0609E"/>
                </a:solidFill>
                <a:latin typeface="Yu Gothic"/>
                <a:ea typeface="Yu Gothic"/>
              </a:rPr>
              <a:t>01  </a:t>
            </a: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自分を知りたい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MBTIに代表される自己分析ブーム。Z世代にとって「タイプで自分を語る」ことは日常。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3300" y="205740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1900" y="225856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4FC3E0"/>
                </a:solidFill>
                <a:latin typeface="Yu Gothic"/>
                <a:ea typeface="Yu Gothic"/>
              </a:rPr>
              <a:t>02  </a:t>
            </a: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結果がキャラで返ってくる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1900" y="283464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「あなたは忠犬ハチ公」。強いネーミングとかわいいキャラが、結果を"語りたくなる話題"に変える。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5740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5856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BB8A8"/>
                </a:solidFill>
                <a:latin typeface="Yu Gothic"/>
                <a:ea typeface="Yu Gothic"/>
              </a:rPr>
              <a:t>03  </a:t>
            </a: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SNSでシェアする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3464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「私、恋愛モンスターだった!」。結果画像はシェア前提で設計され、投稿が自然に発生。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2539" y="205740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1139" y="225856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9B7FD4"/>
                </a:solidFill>
                <a:latin typeface="Yu Gothic"/>
                <a:ea typeface="Yu Gothic"/>
              </a:rPr>
              <a:t>04  </a:t>
            </a: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友達も診断する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1139" y="283464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投稿を見た友達が「私もやる」。相性を確かめ合い、次のシェアが生まれる。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9788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この4ステップが広告費ゼロのまま回り続けた結果が、累計8,000万回という数字です。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SNS &amp;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Z世代に直接届く、自社チャネル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拡散の主戦場はユーザーのUGC。それを受け止める自社チャネルとして、LINEを中心とした基盤を保有しています。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57400"/>
            <a:ext cx="10469880" cy="779526"/>
          </a:xfrm>
          <a:prstGeom prst="roundRect">
            <a:avLst>
              <a:gd name="adj" fmla="val 12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167128"/>
            <a:ext cx="9829800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F0609E"/>
                </a:solidFill>
                <a:latin typeface="Yu Gothic"/>
                <a:ea typeface="Yu Gothic"/>
              </a:rPr>
              <a:t>LINE公式アカウント|友だち40万人</a:t>
            </a: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  65%以上が15〜25歳。診断結果と連動した配信で、コラボ企画の告知・送客を直接行える最大チャネル。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001518"/>
            <a:ext cx="10469880" cy="779526"/>
          </a:xfrm>
          <a:prstGeom prst="roundRect">
            <a:avLst>
              <a:gd name="adj" fmla="val 12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3111246"/>
            <a:ext cx="9829800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4FC3E0"/>
                </a:solidFill>
                <a:latin typeface="Yu Gothic"/>
                <a:ea typeface="Yu Gothic"/>
              </a:rPr>
              <a:t>X @lovechara64</a:t>
            </a: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  相性・恋愛あるある・限定コンテンツを配信(2025年10月開設/フォロワー約2,100人 ※最新値に更新)。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45635"/>
            <a:ext cx="10469880" cy="779526"/>
          </a:xfrm>
          <a:prstGeom prst="roundRect">
            <a:avLst>
              <a:gd name="adj" fmla="val 12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4055363"/>
            <a:ext cx="9829800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2BB8A8"/>
                </a:solidFill>
                <a:latin typeface="Yu Gothic"/>
                <a:ea typeface="Yu Gothic"/>
              </a:rPr>
              <a:t>Instagram @lovechara64</a:t>
            </a: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  毎日恋愛学習コンテンツ『ラブトレ』を投稿(フォロワー約5,400人 ※最新値に更新)。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889754"/>
            <a:ext cx="10469880" cy="779526"/>
          </a:xfrm>
          <a:prstGeom prst="roundRect">
            <a:avLst>
              <a:gd name="adj" fmla="val 12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19" y="4999482"/>
            <a:ext cx="9829800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9B7FD4"/>
                </a:solidFill>
                <a:latin typeface="Yu Gothic"/>
                <a:ea typeface="Yu Gothic"/>
              </a:rPr>
              <a:t>TikTok</a:t>
            </a: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  診断関連UGCが多数流通。「#ラブタイプ診断」でユーザー投稿が継続的に発生。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9788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公式フォロワー数以上に、ユーザー自身の投稿=UGCが拡散の主役。8,000万回の診断は、その連鎖の結果です。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恋愛性格を可視化する、4つの軸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設問への回答から、恋愛における性格を4軸で判定。組み合わせで16タイプに分類します。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5740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5856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0609E"/>
                </a:solidFill>
                <a:latin typeface="Yu Gothic"/>
                <a:ea typeface="Yu Gothic"/>
              </a:rPr>
              <a:t>L / F 主導/協調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A3A3A"/>
                </a:solidFill>
                <a:latin typeface="Yu Gothic"/>
                <a:ea typeface="Yu Gothic"/>
              </a:rPr>
              <a:t>恋愛の主導権を握るタイプか、相手のペースに合わせるタイプか。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3300" y="205740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1900" y="225856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FC3E0"/>
                </a:solidFill>
                <a:latin typeface="Yu Gothic"/>
                <a:ea typeface="Yu Gothic"/>
              </a:rPr>
              <a:t>C / A 甘え/受け止め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1900" y="283464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A3A3A"/>
                </a:solidFill>
                <a:latin typeface="Yu Gothic"/>
                <a:ea typeface="Yu Gothic"/>
              </a:rPr>
              <a:t>甘えたいタイプか、甘えられたいタイプか。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5740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5856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BB8A8"/>
                </a:solidFill>
                <a:latin typeface="Yu Gothic"/>
                <a:ea typeface="Yu Gothic"/>
              </a:rPr>
              <a:t>R / P 現実/情熱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3464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A3A3A"/>
                </a:solidFill>
                <a:latin typeface="Yu Gothic"/>
                <a:ea typeface="Yu Gothic"/>
              </a:rPr>
              <a:t>現実的な恋愛か、情熱的な恋愛か。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2539" y="205740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1139" y="225856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9B7FD4"/>
                </a:solidFill>
                <a:latin typeface="Yu Gothic"/>
                <a:ea typeface="Yu Gothic"/>
              </a:rPr>
              <a:t>O / E 自由/真面目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1139" y="283464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A3A3A"/>
                </a:solidFill>
                <a:latin typeface="Yu Gothic"/>
                <a:ea typeface="Yu Gothic"/>
              </a:rPr>
              <a:t>自由な恋愛観か、真面目で一途か。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9788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結果ページはSNSシェアを前提に設計。「診断して終わり」ではなく「診断してから広がる」体験です。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16 CHARACTERS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16タイプキャラクター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診断結果として提示される16種の恋愛タイプキャラクター。ぬいぐるみ・キーホルダー・絵馬・3DCG演出まで、すべてのアセットがこの16軸で展開できます。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03120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2176272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01 ボス猫 </a:t>
            </a:r>
            <a:r>
              <a:rPr sz="900" b="1">
                <a:solidFill>
                  <a:srgbClr val="F0609E"/>
                </a:solidFill>
                <a:latin typeface="Yu Gothic"/>
                <a:ea typeface="Yu Gothic"/>
              </a:rPr>
              <a:t>LCRO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2487168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主導権を握るマイペースな実力派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7298" y="2103120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4458" y="2176272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02 隠れベイビー </a:t>
            </a:r>
            <a:r>
              <a:rPr sz="900" b="1">
                <a:solidFill>
                  <a:srgbClr val="4FC3E0"/>
                </a:solidFill>
                <a:latin typeface="Yu Gothic"/>
                <a:ea typeface="Yu Gothic"/>
              </a:rPr>
              <a:t>LCRE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4458" y="2487168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外ではしっかり者、内では甘えん坊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5916" y="2103120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3076" y="2176272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03 主役体質 </a:t>
            </a:r>
            <a:r>
              <a:rPr sz="900" b="1">
                <a:solidFill>
                  <a:srgbClr val="2BB8A8"/>
                </a:solidFill>
                <a:latin typeface="Yu Gothic"/>
                <a:ea typeface="Yu Gothic"/>
              </a:rPr>
              <a:t>LCPO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76" y="2487168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恋の中心に立ちたい主役気質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44534" y="2103120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1694" y="2176272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04 ツンデレヤンキー </a:t>
            </a:r>
            <a:r>
              <a:rPr sz="900" b="1">
                <a:solidFill>
                  <a:srgbClr val="9B7FD4"/>
                </a:solidFill>
                <a:latin typeface="Yu Gothic"/>
                <a:ea typeface="Yu Gothic"/>
              </a:rPr>
              <a:t>LCPE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1694" y="2487168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不器用な強気の裏に深い愛情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024378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39" y="3097530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05 憧れの先輩 </a:t>
            </a:r>
            <a:r>
              <a:rPr sz="900" b="1">
                <a:solidFill>
                  <a:srgbClr val="F0609E"/>
                </a:solidFill>
                <a:latin typeface="Yu Gothic"/>
                <a:ea typeface="Yu Gothic"/>
              </a:rPr>
              <a:t>LARO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39" y="3408426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大人びた包容力で慕われる存在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7298" y="3024378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64458" y="3097530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3A3A3A"/>
                </a:solidFill>
                <a:latin typeface="Yu Gothic"/>
                <a:ea typeface="Yu Gothic"/>
              </a:rPr>
              <a:t>06 カリスマバランサー </a:t>
            </a:r>
            <a:r>
              <a:rPr sz="900" b="1">
                <a:solidFill>
                  <a:srgbClr val="4FC3E0"/>
                </a:solidFill>
                <a:latin typeface="Yu Gothic"/>
                <a:ea typeface="Yu Gothic"/>
              </a:rPr>
              <a:t>LARE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4458" y="3408426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主導力と協調性を兼備した万能型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5916" y="3024378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3076" y="3097530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3A3A3A"/>
                </a:solidFill>
                <a:latin typeface="Yu Gothic"/>
                <a:ea typeface="Yu Gothic"/>
              </a:rPr>
              <a:t>07 パーフェクトカメレオン </a:t>
            </a:r>
            <a:r>
              <a:rPr sz="900" b="1">
                <a:solidFill>
                  <a:srgbClr val="2BB8A8"/>
                </a:solidFill>
                <a:latin typeface="Yu Gothic"/>
                <a:ea typeface="Yu Gothic"/>
              </a:rPr>
              <a:t>LAPO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3076" y="3408426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相手や場面に応じて自在に変化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44534" y="3024378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81694" y="3097530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3A3A3A"/>
                </a:solidFill>
                <a:latin typeface="Yu Gothic"/>
                <a:ea typeface="Yu Gothic"/>
              </a:rPr>
              <a:t>08 キャプテンライオン </a:t>
            </a:r>
            <a:r>
              <a:rPr sz="900" b="1">
                <a:solidFill>
                  <a:srgbClr val="9B7FD4"/>
                </a:solidFill>
                <a:latin typeface="Yu Gothic"/>
                <a:ea typeface="Yu Gothic"/>
              </a:rPr>
              <a:t>LAPE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1694" y="3408426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頼れるリーダー気質に情熱を秘める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3945635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39" y="4018787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3A3A3A"/>
                </a:solidFill>
                <a:latin typeface="Yu Gothic"/>
                <a:ea typeface="Yu Gothic"/>
              </a:rPr>
              <a:t>09 ロマンスマジシャン </a:t>
            </a:r>
            <a:r>
              <a:rPr sz="900" b="1">
                <a:solidFill>
                  <a:srgbClr val="F0609E"/>
                </a:solidFill>
                <a:latin typeface="Yu Gothic"/>
                <a:ea typeface="Yu Gothic"/>
              </a:rPr>
              <a:t>FCRO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39" y="4329683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さりげない演出で恋を彩る名サポーター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27298" y="3945635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64458" y="4018787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10 ちゃっかりうさぎ </a:t>
            </a:r>
            <a:r>
              <a:rPr sz="900" b="1">
                <a:solidFill>
                  <a:srgbClr val="4FC3E0"/>
                </a:solidFill>
                <a:latin typeface="Yu Gothic"/>
                <a:ea typeface="Yu Gothic"/>
              </a:rPr>
              <a:t>FCRE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64458" y="4329683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控えめに見えて主導権を握る現実派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5916" y="3945635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3076" y="4018787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11 恋愛モンスター </a:t>
            </a:r>
            <a:r>
              <a:rPr sz="900" b="1">
                <a:solidFill>
                  <a:srgbClr val="2BB8A8"/>
                </a:solidFill>
                <a:latin typeface="Yu Gothic"/>
                <a:ea typeface="Yu Gothic"/>
              </a:rPr>
              <a:t>FCPO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3076" y="4329683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恋に一直線、好きを隠さない情熱家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44534" y="3945635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81694" y="4018787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12 忠犬ハチ公 </a:t>
            </a:r>
            <a:r>
              <a:rPr sz="900" b="1">
                <a:solidFill>
                  <a:srgbClr val="9B7FD4"/>
                </a:solidFill>
                <a:latin typeface="Yu Gothic"/>
                <a:ea typeface="Yu Gothic"/>
              </a:rPr>
              <a:t>FCPE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81694" y="4329683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純粋で一途な愛されキャラ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4866894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39" y="4940046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13 不思議生命体 </a:t>
            </a:r>
            <a:r>
              <a:rPr sz="900" b="1">
                <a:solidFill>
                  <a:srgbClr val="F0609E"/>
                </a:solidFill>
                <a:latin typeface="Yu Gothic"/>
                <a:ea typeface="Yu Gothic"/>
              </a:rPr>
              <a:t>FARO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39" y="5250942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独自の世界観でミステリアス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27298" y="4866894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64458" y="4940046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14 敏腕マネージャー </a:t>
            </a:r>
            <a:r>
              <a:rPr sz="900" b="1">
                <a:solidFill>
                  <a:srgbClr val="4FC3E0"/>
                </a:solidFill>
                <a:latin typeface="Yu Gothic"/>
                <a:ea typeface="Yu Gothic"/>
              </a:rPr>
              <a:t>FARE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64458" y="5250942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冷静に相手を支え整える名サポート派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85916" y="4866894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3076" y="4940046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15 デビル天使 </a:t>
            </a:r>
            <a:r>
              <a:rPr sz="900" b="1">
                <a:solidFill>
                  <a:srgbClr val="2BB8A8"/>
                </a:solidFill>
                <a:latin typeface="Yu Gothic"/>
                <a:ea typeface="Yu Gothic"/>
              </a:rPr>
              <a:t>FAPO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3076" y="5250942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天使の優しさと悪魔の自由さの二面性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44534" y="4866894"/>
            <a:ext cx="2494026" cy="756666"/>
          </a:xfrm>
          <a:prstGeom prst="roundRect">
            <a:avLst>
              <a:gd name="adj" fmla="val 12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81694" y="4940046"/>
            <a:ext cx="221970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A3A3A"/>
                </a:solidFill>
                <a:latin typeface="Yu Gothic"/>
                <a:ea typeface="Yu Gothic"/>
              </a:rPr>
              <a:t>16 最後の恋人 </a:t>
            </a:r>
            <a:r>
              <a:rPr sz="900" b="1">
                <a:solidFill>
                  <a:srgbClr val="9B7FD4"/>
                </a:solidFill>
                <a:latin typeface="Yu Gothic"/>
                <a:ea typeface="Yu Gothic"/>
              </a:rPr>
              <a:t>FAPE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81694" y="5250942"/>
            <a:ext cx="2219706" cy="299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E6E6E"/>
                </a:solidFill>
                <a:latin typeface="Yu Gothic"/>
                <a:ea typeface="Yu Gothic"/>
              </a:rPr>
              <a:t>深い包容力で寄り添う究極の恋人タイプ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89788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0609E"/>
                </a:solidFill>
                <a:latin typeface="Yu Gothic"/>
                <a:ea typeface="Yu Gothic"/>
              </a:rPr>
              <a:t>「ボス猫」「忠犬ハチ公」「最後の恋人」——。一度聞いたら忘れない強度の高いネーミングが、SNS上の会話のきっかけになっています。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CHARACTER PICKUP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キャラ単体で、商品になる。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16タイプそれぞれにファンがつき、「自分のタイプ=推しキャラ」として愛着が生まれます。代表4タイプをご紹介します。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57400"/>
            <a:ext cx="5120640" cy="166878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5856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0609E"/>
                </a:solidFill>
                <a:latin typeface="Yu Gothic"/>
                <a:ea typeface="Yu Gothic"/>
              </a:rPr>
              <a:t>忠犬ハチ公(FCPE)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466344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純粋で一途な王道の愛されキャラ。「尽くすことで自分も満たされる」性格に共感が集まり、グッズ人気も最上位クラス。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120640" cy="166878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5856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FC3E0"/>
                </a:solidFill>
                <a:latin typeface="Yu Gothic"/>
                <a:ea typeface="Yu Gothic"/>
              </a:rPr>
              <a:t>恋愛モンスター(FCPO)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34640"/>
            <a:ext cx="466344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恋に一直線、好きを隠さない情熱家。「わかる、私これ」と自己申告投稿が最も起きやすい、SNS映えタイプ。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954780"/>
            <a:ext cx="5120640" cy="1668780"/>
          </a:xfrm>
          <a:prstGeom prst="roundRect">
            <a:avLst>
              <a:gd name="adj" fmla="val 7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5594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BB8A8"/>
                </a:solidFill>
                <a:latin typeface="Yu Gothic"/>
                <a:ea typeface="Yu Gothic"/>
              </a:rPr>
              <a:t>デビル天使(FAPO)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32020"/>
            <a:ext cx="466344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天使の優しさと悪魔の自由さを併せ持つ二面性派。ギャップのあるビジュアルで二次創作・ファンアートの題材になりやすい。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54780"/>
            <a:ext cx="5120640" cy="1668780"/>
          </a:xfrm>
          <a:prstGeom prst="roundRect">
            <a:avLst>
              <a:gd name="adj" fmla="val 7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15594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9B7FD4"/>
                </a:solidFill>
                <a:latin typeface="Yu Gothic"/>
                <a:ea typeface="Yu Gothic"/>
              </a:rPr>
              <a:t>ボス猫(LCRO)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732020"/>
            <a:ext cx="466344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主導権を握るマイペースな実力派。「上司がボス猫だった」など恋愛以外の文脈でも語られる汎用性の高さ。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9788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ユーザーは「自分のタイプ」を選んで買います。16種展開の商品は、全員に"自分用の1個"がある商品です。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診断から拡散まで、ワンストップの体験設計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ユーザー体験は4ステップ。すべてスマホ上で完結し、シェアまで自然につながります。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5740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5856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0609E"/>
                </a:solidFill>
                <a:latin typeface="Yu Gothic"/>
                <a:ea typeface="Yu Gothic"/>
              </a:rPr>
              <a:t>01  </a:t>
            </a:r>
            <a:r>
              <a:rPr sz="1400" b="1">
                <a:solidFill>
                  <a:srgbClr val="3A3A3A"/>
                </a:solidFill>
                <a:latin typeface="Yu Gothic"/>
                <a:ea typeface="Yu Gothic"/>
              </a:rPr>
              <a:t>診断する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恋愛観に関する設問に回答(数分で完了)。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3300" y="205740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1900" y="225856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4FC3E0"/>
                </a:solidFill>
                <a:latin typeface="Yu Gothic"/>
                <a:ea typeface="Yu Gothic"/>
              </a:rPr>
              <a:t>02  </a:t>
            </a:r>
            <a:r>
              <a:rPr sz="1400" b="1">
                <a:solidFill>
                  <a:srgbClr val="3A3A3A"/>
                </a:solidFill>
                <a:latin typeface="Yu Gothic"/>
                <a:ea typeface="Yu Gothic"/>
              </a:rPr>
              <a:t>キャラと出会う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1900" y="283464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結果ページで自分のタイプキャラ・性格解説・恋愛傾向を提示。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5740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5856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BB8A8"/>
                </a:solidFill>
                <a:latin typeface="Yu Gothic"/>
                <a:ea typeface="Yu Gothic"/>
              </a:rPr>
              <a:t>03  </a:t>
            </a:r>
            <a:r>
              <a:rPr sz="1400" b="1">
                <a:solidFill>
                  <a:srgbClr val="3A3A3A"/>
                </a:solidFill>
                <a:latin typeface="Yu Gothic"/>
                <a:ea typeface="Yu Gothic"/>
              </a:rPr>
              <a:t>相性を知る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3464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タイプ×タイプの相性がわかり、「彼と相性見て」「推しと同じか確かめる」など2人以上で楽しむ文脈が発生。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2539" y="205740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1139" y="225856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9B7FD4"/>
                </a:solidFill>
                <a:latin typeface="Yu Gothic"/>
                <a:ea typeface="Yu Gothic"/>
              </a:rPr>
              <a:t>04  </a:t>
            </a:r>
            <a:r>
              <a:rPr sz="1400" b="1">
                <a:solidFill>
                  <a:srgbClr val="3A3A3A"/>
                </a:solidFill>
                <a:latin typeface="Yu Gothic"/>
                <a:ea typeface="Yu Gothic"/>
              </a:rPr>
              <a:t>シェアする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1139" y="283464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シェア用画像をSNSへ投稿。投稿を見た友達が診断し、ループが続く。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9788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「相性」があることで、診断は1人で終わらず、友達・恋人・推しへと連鎖します。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PRODUCT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診断エンジンは、テーマに合わせて拡張できます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ラブタイプ診断を中核に、目的別の派生診断・コンテンツを開発してきました。この開発力がコラボ診断の土台です。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57400"/>
            <a:ext cx="3337560" cy="356616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585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0609E"/>
                </a:solidFill>
                <a:latin typeface="Yu Gothic"/>
                <a:ea typeface="Yu Gothic"/>
              </a:rPr>
              <a:t>ラブキャラ診断64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2880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恋愛価値観・依存度・未来志向など6軸で分析し、16キャラ×4分類=64タイプへ進化した上位版。日本恋愛学協会監修ロジック。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3337560" cy="356616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2585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FC3E0"/>
                </a:solidFill>
                <a:latin typeface="Yu Gothic"/>
                <a:ea typeface="Yu Gothic"/>
              </a:rPr>
              <a:t>モテタイプ診断16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34640"/>
            <a:ext cx="2880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ABEMA公式番組「ラブパワーキングダム」と共同開発した番組連動カスタム診断。100万人リーチを達成。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057400"/>
            <a:ext cx="3337560" cy="3566160"/>
          </a:xfrm>
          <a:prstGeom prst="roundRect">
            <a:avLst>
              <a:gd name="adj" fmla="val 7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2585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BB8A8"/>
                </a:solidFill>
                <a:latin typeface="Yu Gothic"/>
                <a:ea typeface="Yu Gothic"/>
              </a:rPr>
              <a:t>ラブトレ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34640"/>
            <a:ext cx="2880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Instagramで毎日配信する恋愛学習コンテンツ。診断後の継続接点として機能。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9788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「貴社テーマ×ラブタイプ」の特注診断も、同じエンジンで開発可能です。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恋愛×占い×キャラ×SNS。4つの文脈の交点にZ世代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ラブタイプ診断のユーザーは、消費とシェアに最も積極的な層に集中しています。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57400"/>
            <a:ext cx="3337560" cy="356616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585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0609E"/>
                </a:solidFill>
                <a:latin typeface="Yu Gothic"/>
                <a:ea typeface="Yu Gothic"/>
              </a:rPr>
              <a:t>中核層:女性Z世代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2880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10代後半〜20代中心。LINE友だちの65%以上が15〜25歳。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3337560" cy="356616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2585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C3E0"/>
                </a:solidFill>
                <a:latin typeface="Yu Gothic"/>
                <a:ea typeface="Yu Gothic"/>
              </a:rPr>
              <a:t>男性比率:2〜3割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34640"/>
            <a:ext cx="2880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カップル・友達同士の利用で男性にも波及。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057400"/>
            <a:ext cx="3337560" cy="3566160"/>
          </a:xfrm>
          <a:prstGeom prst="roundRect">
            <a:avLst>
              <a:gd name="adj" fmla="val 7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2585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BB8A8"/>
                </a:solidFill>
                <a:latin typeface="Yu Gothic"/>
                <a:ea typeface="Yu Gothic"/>
              </a:rPr>
              <a:t>海外:台湾150万UU・韓国150万UU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34640"/>
            <a:ext cx="2880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日本発でアジアに広がる恋愛IP。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9788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0609E"/>
                </a:solidFill>
                <a:latin typeface="Yu Gothic"/>
                <a:ea typeface="Yu Gothic"/>
              </a:rPr>
              <a:t>「トレンドに敏感で、良いと思ったものを自分の言葉で発信する」——企業がいちばん届けたい層が、すでにここに集まっています。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MARKETING ASSET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診断とは、「参加する広告」である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一方的に見せる広告と違い、診断はユーザーが自ら参加し、自分の結果として発信するメディアです。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57400"/>
            <a:ext cx="3337560" cy="356616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585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0609E"/>
                </a:solidFill>
                <a:latin typeface="Yu Gothic"/>
                <a:ea typeface="Yu Gothic"/>
              </a:rPr>
              <a:t>データ資産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2880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8,000万回の診断で蓄積した恋愛・性格・価値観データから、Z世代に刺さるテーマ設計が可能。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3337560" cy="356616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2585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FC3E0"/>
                </a:solidFill>
                <a:latin typeface="Yu Gothic"/>
                <a:ea typeface="Yu Gothic"/>
              </a:rPr>
              <a:t>自分ごと化装置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34640"/>
            <a:ext cx="2880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「あなたのタイプは」と語りかける診断は、商品・ブランドを"自分の話"に変換する。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057400"/>
            <a:ext cx="3337560" cy="3566160"/>
          </a:xfrm>
          <a:prstGeom prst="roundRect">
            <a:avLst>
              <a:gd name="adj" fmla="val 7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2585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BB8A8"/>
                </a:solidFill>
                <a:latin typeface="Yu Gothic"/>
                <a:ea typeface="Yu Gothic"/>
              </a:rPr>
              <a:t>UGC発生装置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34640"/>
            <a:ext cx="2880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結果シェアが仕様として組み込まれているため、投稿が偶然ではなく設計として生まれる。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9788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貴社の商品に「参加したくなる理由」と「投稿したくなる理由」を足せるのが、ラブタイプ診断です。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CASE: ABEMA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ABEMA公式番組と共同開発。広告費0円で100万人リーチ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A3A3A"/>
                </a:solidFill>
                <a:latin typeface="Yu Gothic"/>
                <a:ea typeface="Yu Gothic"/>
              </a:rPr>
              <a:t>ABEMA公式恋愛番組「ラブパワーキングダム」×「モテタイプ診断16」。番組連動カスタム診断の共同開発・運営実績です。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286000"/>
            <a:ext cx="2446020" cy="3200400"/>
          </a:xfrm>
          <a:prstGeom prst="roundRect">
            <a:avLst>
              <a:gd name="adj" fmla="val 8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286000"/>
            <a:ext cx="2446020" cy="109728"/>
          </a:xfrm>
          <a:prstGeom prst="roundRect">
            <a:avLst>
              <a:gd name="adj" fmla="val 50000"/>
            </a:avLst>
          </a:prstGeom>
          <a:solidFill>
            <a:srgbClr val="F0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22631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F0609E"/>
                </a:solidFill>
                <a:latin typeface="Yu Gothic"/>
                <a:ea typeface="Yu Gothic"/>
              </a:rPr>
              <a:t>100万人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66160"/>
            <a:ext cx="22631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リーチ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39" y="3977639"/>
            <a:ext cx="21717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E6E6E"/>
                </a:solidFill>
                <a:latin typeface="Yu Gothic"/>
                <a:ea typeface="Yu Gothic"/>
              </a:rPr>
              <a:t>ABEMA公式コラボ施策
広告費¥0・診断サイトのみ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3300" y="2286000"/>
            <a:ext cx="2446020" cy="320040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43300" y="2286000"/>
            <a:ext cx="2446020" cy="109728"/>
          </a:xfrm>
          <a:prstGeom prst="roundRect">
            <a:avLst>
              <a:gd name="adj" fmla="val 50000"/>
            </a:avLst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4740" y="2697480"/>
            <a:ext cx="22631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4FC3E0"/>
                </a:solidFill>
                <a:latin typeface="Yu Gothic"/>
                <a:ea typeface="Yu Gothic"/>
              </a:rPr>
              <a:t>409万+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4740" y="3566160"/>
            <a:ext cx="22631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総PV数(累計)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0460" y="3977639"/>
            <a:ext cx="21717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E6E6E"/>
                </a:solidFill>
                <a:latin typeface="Yu Gothic"/>
                <a:ea typeface="Yu Gothic"/>
              </a:rPr>
              <a:t>13日で100万PV
30日で200万PV
100日で400万PV突破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286000"/>
            <a:ext cx="2446020" cy="3200400"/>
          </a:xfrm>
          <a:prstGeom prst="roundRect">
            <a:avLst>
              <a:gd name="adj" fmla="val 8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286000"/>
            <a:ext cx="2446020" cy="109728"/>
          </a:xfrm>
          <a:prstGeom prst="roundRect">
            <a:avLst>
              <a:gd name="adj" fmla="val 50000"/>
            </a:avLst>
          </a:prstGeom>
          <a:solidFill>
            <a:srgbClr val="2B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2697480"/>
            <a:ext cx="22631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2BB8A8"/>
                </a:solidFill>
                <a:latin typeface="Yu Gothic"/>
                <a:ea typeface="Yu Gothic"/>
              </a:rPr>
              <a:t>114万+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566160"/>
            <a:ext cx="22631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累積AU数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977639"/>
            <a:ext cx="21717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E6E6E"/>
                </a:solidFill>
                <a:latin typeface="Yu Gothic"/>
                <a:ea typeface="Yu Gothic"/>
              </a:rPr>
              <a:t>オーガニックのみで100万AU突破
診断完了 約80万件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2539" y="2286000"/>
            <a:ext cx="2446020" cy="3200400"/>
          </a:xfrm>
          <a:prstGeom prst="roundRect">
            <a:avLst>
              <a:gd name="adj" fmla="val 8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92539" y="2286000"/>
            <a:ext cx="2446020" cy="109728"/>
          </a:xfrm>
          <a:prstGeom prst="roundRect">
            <a:avLst>
              <a:gd name="adj" fmla="val 50000"/>
            </a:avLst>
          </a:prstGeom>
          <a:solidFill>
            <a:srgbClr val="9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3979" y="2697480"/>
            <a:ext cx="22631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9B7FD4"/>
                </a:solidFill>
                <a:latin typeface="Yu Gothic"/>
                <a:ea typeface="Yu Gothic"/>
              </a:rPr>
              <a:t>17,000+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3979" y="3566160"/>
            <a:ext cx="22631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番組へ直接送客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9699" y="3977639"/>
            <a:ext cx="21717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E6E6E"/>
                </a:solidFill>
                <a:latin typeface="Yu Gothic"/>
                <a:ea typeface="Yu Gothic"/>
              </a:rPr>
              <a:t>放送直後286名から
約60倍に成長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5216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「初速のバズ」と「継続的な拡散」。2つの力を広告費ゼロで実現し、番組終了後もSNSシェアで自走が続いています。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PARTNERSHIPS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大手も、すでに動いています。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進行中・実施済みの大型パートナーシップ。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20240"/>
            <a:ext cx="3337560" cy="178308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0609E"/>
                </a:solidFill>
                <a:latin typeface="Yu Gothic"/>
                <a:ea typeface="Yu Gothic"/>
              </a:rPr>
              <a:t>BANDAI NAMCO(実施中)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2880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全国220店舗のゲームセンターで、ラブキャラフレンズをクレーンゲーム景品として展開。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337560" cy="178308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2140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E0"/>
                </a:solidFill>
                <a:latin typeface="Yu Gothic"/>
                <a:ea typeface="Yu Gothic"/>
              </a:rPr>
              <a:t>ABEMA(実施中)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97480"/>
            <a:ext cx="2880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公式コラボ「モテタイプ診断16」共同開発。シーズン2でのラブタイプ16コラボも決定。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920240"/>
            <a:ext cx="3337560" cy="1783080"/>
          </a:xfrm>
          <a:prstGeom prst="roundRect">
            <a:avLst>
              <a:gd name="adj" fmla="val 7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2140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BB8A8"/>
                </a:solidFill>
                <a:latin typeface="Yu Gothic"/>
                <a:ea typeface="Yu Gothic"/>
              </a:rPr>
              <a:t>集英社(進行中)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97480"/>
            <a:ext cx="2880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書籍化プロジェクト進行中。刊行に向けて制作着手。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931920"/>
            <a:ext cx="3337560" cy="1783080"/>
          </a:xfrm>
          <a:prstGeom prst="roundRect">
            <a:avLst>
              <a:gd name="adj" fmla="val 7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1330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9B7FD4"/>
                </a:solidFill>
                <a:latin typeface="Yu Gothic"/>
                <a:ea typeface="Yu Gothic"/>
              </a:rPr>
              <a:t>NewsPicks(進行中)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09160"/>
            <a:ext cx="2880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岸谷蘭丸氏出演のZ+α世代向け新番組と共同開発。番組/EC/オフラインイベントで展開予定。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931920"/>
            <a:ext cx="3337560" cy="178308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1330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0609E"/>
                </a:solidFill>
                <a:latin typeface="Yu Gothic"/>
                <a:ea typeface="Yu Gothic"/>
              </a:rPr>
              <a:t>Seventeen(進行中)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709160"/>
            <a:ext cx="2880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中高生向け恋愛診断コンテンツを共同開発。誌面/Web/SNS連動。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3931920"/>
            <a:ext cx="3337560" cy="178308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1330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E0"/>
                </a:solidFill>
                <a:latin typeface="Yu Gothic"/>
                <a:ea typeface="Yu Gothic"/>
              </a:rPr>
              <a:t>朝日学生新聞社(掲載済)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709160"/>
            <a:ext cx="2880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「診断×恋愛×IP」の取り組みが全国紙面で紹介。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エンタメ・出版・アミューズメント・メディア。業界を横断して、コラボの前例がすでにあります。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MEDIA &amp; UGC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メディアが取り上げ、ユーザーが語る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公式発信だけでなく、メディア掲載とUGCの両輪で話題が広がっています。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03120"/>
            <a:ext cx="10469880" cy="1289304"/>
          </a:xfrm>
          <a:prstGeom prst="roundRect">
            <a:avLst>
              <a:gd name="adj" fmla="val 12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212848"/>
            <a:ext cx="9829800" cy="11064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0609E"/>
                </a:solidFill>
                <a:latin typeface="Yu Gothic"/>
                <a:ea typeface="Yu Gothic"/>
              </a:rPr>
              <a:t>メディア掲載</a:t>
            </a:r>
            <a:r>
              <a:rPr sz="1200" b="0">
                <a:solidFill>
                  <a:srgbClr val="3A3A3A"/>
                </a:solidFill>
                <a:latin typeface="Yu Gothic"/>
                <a:ea typeface="Yu Gothic"/>
              </a:rPr>
              <a:t>  non-no、めざましmedia、朝日中高生新聞ほか多数。「大バズり中のラブタイプ診断」としてファッション誌・情報メディアが自発的に紹介。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557015"/>
            <a:ext cx="10469880" cy="1289304"/>
          </a:xfrm>
          <a:prstGeom prst="roundRect">
            <a:avLst>
              <a:gd name="adj" fmla="val 12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3666744"/>
            <a:ext cx="9829800" cy="11064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C3E0"/>
                </a:solidFill>
                <a:latin typeface="Yu Gothic"/>
                <a:ea typeface="Yu Gothic"/>
              </a:rPr>
              <a:t>UGCの継続発生</a:t>
            </a:r>
            <a:r>
              <a:rPr sz="1200" b="0">
                <a:solidFill>
                  <a:srgbClr val="3A3A3A"/>
                </a:solidFill>
                <a:latin typeface="Yu Gothic"/>
                <a:ea typeface="Yu Gothic"/>
              </a:rPr>
              <a:t>  X・TikTok・Instagramで「#ラブタイプ診断」の投稿が日常的に生まれ、診断への新規流入が続く。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2920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E6E6E"/>
                </a:solidFill>
                <a:latin typeface="Yu Gothic"/>
                <a:ea typeface="Yu Gothic"/>
              </a:rPr>
              <a:t>(掲載メディアのロゴ・記事スクリーンショット・UGC投稿例をこのスペースに掲載)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「広告として見せる」のではなく「話題として語られる」。それがこのIPの拡散のかたちです。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REAL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2026年秋、リアルポップアップストアを展開予定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中核IP「ラブタイプ診断」を基点に、16タイプキャラクターと「縁結び」の世界観を融合した体験型ポップアップを、都内大型商業施設で約1週間開催予定です。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03120"/>
            <a:ext cx="3337560" cy="166878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042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0609E"/>
                </a:solidFill>
                <a:latin typeface="Yu Gothic"/>
                <a:ea typeface="Yu Gothic"/>
              </a:rPr>
              <a:t>01  </a:t>
            </a:r>
            <a:r>
              <a:rPr sz="1200" b="1">
                <a:solidFill>
                  <a:srgbClr val="3A3A3A"/>
                </a:solidFill>
                <a:latin typeface="Yu Gothic"/>
                <a:ea typeface="Yu Gothic"/>
              </a:rPr>
              <a:t>3DCGオンラインおみくじ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288036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A3A3A"/>
                </a:solidFill>
                <a:latin typeface="Yu Gothic"/>
                <a:ea typeface="Yu Gothic"/>
              </a:rPr>
              <a:t>3DCG動画演出付き。結果はその場で印刷。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03120"/>
            <a:ext cx="3337560" cy="166878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042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4FC3E0"/>
                </a:solidFill>
                <a:latin typeface="Yu Gothic"/>
                <a:ea typeface="Yu Gothic"/>
              </a:rPr>
              <a:t>02  </a:t>
            </a:r>
            <a:r>
              <a:rPr sz="1200" b="1">
                <a:solidFill>
                  <a:srgbClr val="3A3A3A"/>
                </a:solidFill>
                <a:latin typeface="Yu Gothic"/>
                <a:ea typeface="Yu Gothic"/>
              </a:rPr>
              <a:t>写真撮影ブース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80360"/>
            <a:ext cx="288036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A3A3A"/>
                </a:solidFill>
                <a:latin typeface="Yu Gothic"/>
                <a:ea typeface="Yu Gothic"/>
              </a:rPr>
              <a:t>16タイプに続く"17体目のキャラクター"になりきり撮影。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03120"/>
            <a:ext cx="3337560" cy="1668780"/>
          </a:xfrm>
          <a:prstGeom prst="roundRect">
            <a:avLst>
              <a:gd name="adj" fmla="val 7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3042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BB8A8"/>
                </a:solidFill>
                <a:latin typeface="Yu Gothic"/>
                <a:ea typeface="Yu Gothic"/>
              </a:rPr>
              <a:t>03  </a:t>
            </a:r>
            <a:r>
              <a:rPr sz="1200" b="1">
                <a:solidFill>
                  <a:srgbClr val="3A3A3A"/>
                </a:solidFill>
                <a:latin typeface="Yu Gothic"/>
                <a:ea typeface="Yu Gothic"/>
              </a:rPr>
              <a:t>願いが叶う鈴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80360"/>
            <a:ext cx="288036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A3A3A"/>
                </a:solidFill>
                <a:latin typeface="Yu Gothic"/>
                <a:ea typeface="Yu Gothic"/>
              </a:rPr>
              <a:t>神社フォトスポット。鳴らして願掛けする様子を撮影。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000500"/>
            <a:ext cx="3337560" cy="1668780"/>
          </a:xfrm>
          <a:prstGeom prst="roundRect">
            <a:avLst>
              <a:gd name="adj" fmla="val 7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016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9B7FD4"/>
                </a:solidFill>
                <a:latin typeface="Yu Gothic"/>
                <a:ea typeface="Yu Gothic"/>
              </a:rPr>
              <a:t>04  </a:t>
            </a:r>
            <a:r>
              <a:rPr sz="1200" b="1">
                <a:solidFill>
                  <a:srgbClr val="3A3A3A"/>
                </a:solidFill>
                <a:latin typeface="Yu Gothic"/>
                <a:ea typeface="Yu Gothic"/>
              </a:rPr>
              <a:t>願いを書くと叶う巨大絵馬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77740"/>
            <a:ext cx="288036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A3A3A"/>
                </a:solidFill>
                <a:latin typeface="Yu Gothic"/>
                <a:ea typeface="Yu Gothic"/>
              </a:rPr>
              <a:t>壁面全体に16キャラ別吹き出し。参加型・撮影誘発。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000500"/>
            <a:ext cx="3337560" cy="166878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2016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0609E"/>
                </a:solidFill>
                <a:latin typeface="Yu Gothic"/>
                <a:ea typeface="Yu Gothic"/>
              </a:rPr>
              <a:t>05  </a:t>
            </a:r>
            <a:r>
              <a:rPr sz="1200" b="1">
                <a:solidFill>
                  <a:srgbClr val="3A3A3A"/>
                </a:solidFill>
                <a:latin typeface="Yu Gothic"/>
                <a:ea typeface="Yu Gothic"/>
              </a:rPr>
              <a:t>絵馬奉納・物販ブース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777740"/>
            <a:ext cx="288036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A3A3A"/>
                </a:solidFill>
                <a:latin typeface="Yu Gothic"/>
                <a:ea typeface="Yu Gothic"/>
              </a:rPr>
              <a:t>タイプ別絵馬掛けに奉納可。グッズ単発購入。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4000500"/>
            <a:ext cx="3337560" cy="166878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2016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4FC3E0"/>
                </a:solidFill>
                <a:latin typeface="Yu Gothic"/>
                <a:ea typeface="Yu Gothic"/>
              </a:rPr>
              <a:t>06  </a:t>
            </a:r>
            <a:r>
              <a:rPr sz="1200" b="1">
                <a:solidFill>
                  <a:srgbClr val="3A3A3A"/>
                </a:solidFill>
                <a:latin typeface="Yu Gothic"/>
                <a:ea typeface="Yu Gothic"/>
              </a:rPr>
              <a:t>クレーンゲームブース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777740"/>
            <a:ext cx="288036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A3A3A"/>
                </a:solidFill>
                <a:latin typeface="Yu Gothic"/>
                <a:ea typeface="Yu Gothic"/>
              </a:rPr>
              <a:t>バンダイナムコアミューズメント様景品連動・実機設置。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0609E"/>
                </a:solidFill>
                <a:latin typeface="Yu Gothic"/>
                <a:ea typeface="Yu Gothic"/>
              </a:rPr>
              <a:t>会場体験→SNS拡散→EC送客まで一体設計。リアルの場でも「投稿したくなる仕掛け」を軸に構成しています。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PRODUCT LINEUP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"売れるかたち"は、すでにあります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すべて16タイプ展開・単発販売(ガチャ方式なし)。縁結び系プロダクトは実在の神社で祈祷を受けたうえで販売する、ご利益を伴うキャラクターグッズです。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0312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0428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0609E"/>
                </a:solidFill>
                <a:latin typeface="Yu Gothic"/>
                <a:ea typeface="Yu Gothic"/>
              </a:rPr>
              <a:t>恋の縁結び 小型ぬいぐるみ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通常版に加え、ごく一部にシークレット激レア版(ハート型)が混入。開封の楽しみがあるシグネチャー商品。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3300" y="210312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1900" y="230428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C3E0"/>
                </a:solidFill>
                <a:latin typeface="Yu Gothic"/>
                <a:ea typeface="Yu Gothic"/>
              </a:rPr>
              <a:t>アクリル製 恋の縁結び キーホルダー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1900" y="288036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透明アクリルに各タイプのキーアートを封入。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0312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30428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BB8A8"/>
                </a:solidFill>
                <a:latin typeface="Yu Gothic"/>
                <a:ea typeface="Yu Gothic"/>
              </a:rPr>
              <a:t>恋の縁結び 絵馬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8036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タイプごとにデザインが異なる縁結び絵馬。購入後、会場の絵馬掛けへ奉納できる体験型グッズ。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2539" y="2103120"/>
            <a:ext cx="2446020" cy="3566160"/>
          </a:xfrm>
          <a:prstGeom prst="roundRect">
            <a:avLst>
              <a:gd name="adj" fmla="val 7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1139" y="2304288"/>
            <a:ext cx="19888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9B7FD4"/>
                </a:solidFill>
                <a:latin typeface="Yu Gothic"/>
                <a:ea typeface="Yu Gothic"/>
              </a:rPr>
              <a:t>オンラインおみくじ(3DCG演出付き)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1139" y="2880360"/>
            <a:ext cx="198881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タッチパネルから1回課金。タイプ別3DCG演出、結果はその場で印刷。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バンダイナムコ様のクレーンゲーム景品化も実現済み。キャラクターの商品化は、構想ではなく実績です。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ラブタイプ診断が、貴社に足せる3つの価値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ラブキャラIPは、既存のサービスや商品に「参加したくなる理由」と「投稿したくなる理由」を足します。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03120"/>
            <a:ext cx="3337560" cy="3749039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042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0609E"/>
                </a:solidFill>
                <a:latin typeface="Yu Gothic"/>
                <a:ea typeface="Yu Gothic"/>
              </a:rPr>
              <a:t>購買化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2880360" cy="2834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A3A3A"/>
                </a:solidFill>
                <a:latin typeface="Yu Gothic"/>
                <a:ea typeface="Yu Gothic"/>
              </a:rPr>
              <a:t>タイプ別商品・限定SKU・ギフトセット・EC導線で、「選ぶ理由」と「買う理由」をつくる。16種展開なら全員に"自分用"がある。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03120"/>
            <a:ext cx="3337560" cy="3749039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042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FC3E0"/>
                </a:solidFill>
                <a:latin typeface="Yu Gothic"/>
                <a:ea typeface="Yu Gothic"/>
              </a:rPr>
              <a:t>投稿化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80360"/>
            <a:ext cx="2880360" cy="2834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A3A3A"/>
                </a:solidFill>
                <a:latin typeface="Yu Gothic"/>
                <a:ea typeface="Yu Gothic"/>
              </a:rPr>
              <a:t>診断結果・キャラクター・撮影素材・フレームで、SNSに載せたくなる接点をつくる。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03120"/>
            <a:ext cx="3337560" cy="3749039"/>
          </a:xfrm>
          <a:prstGeom prst="roundRect">
            <a:avLst>
              <a:gd name="adj" fmla="val 7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3042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BB8A8"/>
                </a:solidFill>
                <a:latin typeface="Yu Gothic"/>
                <a:ea typeface="Yu Gothic"/>
              </a:rPr>
              <a:t>来店・継続化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80360"/>
            <a:ext cx="2880360" cy="2834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A3A3A"/>
                </a:solidFill>
                <a:latin typeface="Yu Gothic"/>
                <a:ea typeface="Yu Gothic"/>
              </a:rPr>
              <a:t>ポップアップ・カフェ・アプリ・サロンで、来場・予約・課金・再接触へつなげる。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COLLABORATION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5ステップで、診断を成果につなげる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診断体験、キャラクター、限定商品、SNS投稿、行動導線を1本のラインで設計します。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03120"/>
            <a:ext cx="1911095" cy="347472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04288"/>
            <a:ext cx="1453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0609E"/>
                </a:solidFill>
                <a:latin typeface="Yu Gothic"/>
                <a:ea typeface="Yu Gothic"/>
              </a:rPr>
              <a:t>01  </a:t>
            </a: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診断体験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45389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自分のタイプを知る入口をつくる。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08376" y="2103120"/>
            <a:ext cx="1911095" cy="347472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36976" y="2304288"/>
            <a:ext cx="1453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4FC3E0"/>
                </a:solidFill>
                <a:latin typeface="Yu Gothic"/>
                <a:ea typeface="Yu Gothic"/>
              </a:rPr>
              <a:t>02  </a:t>
            </a: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キャラ化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2880360"/>
            <a:ext cx="145389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結果を覚えやすく、語りやすくする。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48072" y="2103120"/>
            <a:ext cx="1911095" cy="3474720"/>
          </a:xfrm>
          <a:prstGeom prst="roundRect">
            <a:avLst>
              <a:gd name="adj" fmla="val 7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2304288"/>
            <a:ext cx="1453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BB8A8"/>
                </a:solidFill>
                <a:latin typeface="Yu Gothic"/>
                <a:ea typeface="Yu Gothic"/>
              </a:rPr>
              <a:t>03  </a:t>
            </a: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限定企画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2880360"/>
            <a:ext cx="145389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商品・特典・メニュー・機能に接続する。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7768" y="2103120"/>
            <a:ext cx="1911095" cy="3474720"/>
          </a:xfrm>
          <a:prstGeom prst="roundRect">
            <a:avLst>
              <a:gd name="adj" fmla="val 7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7" y="2304288"/>
            <a:ext cx="1453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9B7FD4"/>
                </a:solidFill>
                <a:latin typeface="Yu Gothic"/>
                <a:ea typeface="Yu Gothic"/>
              </a:rPr>
              <a:t>04  </a:t>
            </a: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SNS投稿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2880360"/>
            <a:ext cx="145389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結果画像や撮影導線で共有を促す。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27463" y="2103120"/>
            <a:ext cx="1911095" cy="347472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6063" y="2304288"/>
            <a:ext cx="1453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0609E"/>
                </a:solidFill>
                <a:latin typeface="Yu Gothic"/>
                <a:ea typeface="Yu Gothic"/>
              </a:rPr>
              <a:t>05  </a:t>
            </a:r>
            <a:r>
              <a:rPr sz="1300" b="1">
                <a:solidFill>
                  <a:srgbClr val="3A3A3A"/>
                </a:solidFill>
                <a:latin typeface="Yu Gothic"/>
                <a:ea typeface="Yu Gothic"/>
              </a:rPr>
              <a:t>行動導線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6063" y="2880360"/>
            <a:ext cx="145389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購買・来店・予約・視聴・課金へ接続する。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9788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単発の話題づくりで終わらせず、貴社のKPI(売上・来店・会員化)まで届く設計にします。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貴社の業種なら、こう使えます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5120640" cy="189738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9280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0609E"/>
                </a:solidFill>
                <a:latin typeface="Yu Gothic"/>
                <a:ea typeface="Yu Gothic"/>
              </a:rPr>
              <a:t>小売・D2C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4663440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ラブタイプ別おすすめ商品/限定コラボ商品/Instagram投稿キャンペーン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→ 購買体験の自分ごと化とUGC創出。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120640" cy="189738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9280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FC3E0"/>
                </a:solidFill>
                <a:latin typeface="Yu Gothic"/>
                <a:ea typeface="Yu Gothic"/>
              </a:rPr>
              <a:t>カフェ・飲食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4663440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タイプ別メニュー/来店診断/限定ノベルティ/店内撮影導線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→ 来店動機とSNS投稿ネタを同時につくる。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17620"/>
            <a:ext cx="5120640" cy="1897380"/>
          </a:xfrm>
          <a:prstGeom prst="roundRect">
            <a:avLst>
              <a:gd name="adj" fmla="val 7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187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BB8A8"/>
                </a:solidFill>
                <a:latin typeface="Yu Gothic"/>
                <a:ea typeface="Yu Gothic"/>
              </a:rPr>
              <a:t>イベント・物販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94860"/>
            <a:ext cx="4663440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診断体験付き期間限定ストア/タイプ別限定グッズ/撮影スポット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→ 来場理由と限定感を演出し、商業施設へ提案しやすい企画に。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17620"/>
            <a:ext cx="5120640" cy="1897380"/>
          </a:xfrm>
          <a:prstGeom prst="roundRect">
            <a:avLst>
              <a:gd name="adj" fmla="val 7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0187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9B7FD4"/>
                </a:solidFill>
                <a:latin typeface="Yu Gothic"/>
                <a:ea typeface="Yu Gothic"/>
              </a:rPr>
              <a:t>アプリ・デジタル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94860"/>
            <a:ext cx="4663440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タイプ別フレーム・スタンプ/診断結果テンプレート/限定デジタル特典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→ 利用促進とコラボ期間中の話題化。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94360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上記は一例です。初回ディスカッションで、貴社の商材・販路に合わせた個別企画に落とし込みます。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CUSTOM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「貴社だけの診断」を、つくれます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既存の16タイプを使うだけでなく、貴社の商材・テーマに合わせた特注診断を共同開発できます。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03120"/>
            <a:ext cx="10469880" cy="1048512"/>
          </a:xfrm>
          <a:prstGeom prst="roundRect">
            <a:avLst>
              <a:gd name="adj" fmla="val 12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212848"/>
            <a:ext cx="9829800" cy="865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0609E"/>
                </a:solidFill>
                <a:latin typeface="Yu Gothic"/>
                <a:ea typeface="Yu Gothic"/>
              </a:rPr>
              <a:t>商品レコメンド直結</a:t>
            </a: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  「あなたに合う〇〇(貴社商品)診断」「〇〇タイプ別△△の選び方」など、診断結果から貴社商品のレコメンドへ直結する設計が可能。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316224"/>
            <a:ext cx="10469880" cy="1048512"/>
          </a:xfrm>
          <a:prstGeom prst="roundRect">
            <a:avLst>
              <a:gd name="adj" fmla="val 12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3425952"/>
            <a:ext cx="9829800" cy="865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C3E0"/>
                </a:solidFill>
                <a:latin typeface="Yu Gothic"/>
                <a:ea typeface="Yu Gothic"/>
              </a:rPr>
              <a:t>前例:ABEMA「モテタイプ診断16」</a:t>
            </a: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  番組テーマに合わせた16分岐のカスタム診断を共同開発し、広告費ゼロで100万人リーチを達成。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529328"/>
            <a:ext cx="10469880" cy="1048512"/>
          </a:xfrm>
          <a:prstGeom prst="roundRect">
            <a:avLst>
              <a:gd name="adj" fmla="val 12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4639056"/>
            <a:ext cx="9829800" cy="865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BB8A8"/>
                </a:solidFill>
                <a:latin typeface="Yu Gothic"/>
                <a:ea typeface="Yu Gothic"/>
              </a:rPr>
              <a:t>ワンストップ監修</a:t>
            </a:r>
            <a:r>
              <a:rPr sz="1150" b="0">
                <a:solidFill>
                  <a:srgbClr val="3A3A3A"/>
                </a:solidFill>
                <a:latin typeface="Yu Gothic"/>
                <a:ea typeface="Yu Gothic"/>
              </a:rPr>
              <a:t>  診断ロジック・キャラ活用・結果ページ・SNSシェア設計まで、当社がワンストップで監修。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9788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診断そのものが貴社商品の"接客ツール"になり、コラボ終了後も資産として残ります。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IPコラボ 売上歩合5〜10%。初期費用ゼロからも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A3A3A"/>
                </a:solidFill>
                <a:latin typeface="Yu Gothic"/>
                <a:ea typeface="Yu Gothic"/>
              </a:rPr>
              <a:t>ラブキャラ/ラブタイプ診断IPを活用した、売上連動型のコラボスキームです。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03120"/>
            <a:ext cx="5120640" cy="301752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042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0609E"/>
                </a:solidFill>
                <a:latin typeface="Yu Gothic"/>
                <a:ea typeface="Yu Gothic"/>
              </a:rPr>
              <a:t>TYPE A 保証型|売上3〜5%+固定費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4663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A3A3A"/>
                </a:solidFill>
                <a:latin typeface="Yu Gothic"/>
                <a:ea typeface="Yu Gothic"/>
              </a:rPr>
              <a:t>立ち上げ段階で安定運用したいパートナー向け。固定費で初期投資を回収しつつ、売上連動で上振れを取りに行く設計。既にチャネル/顧客基盤があるブランドに。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120640" cy="301752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042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C3E0"/>
                </a:solidFill>
                <a:latin typeface="Yu Gothic"/>
                <a:ea typeface="Yu Gothic"/>
              </a:rPr>
              <a:t>TYPE B 成果報酬型|売上8〜10%のみ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80360"/>
            <a:ext cx="4663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A3A3A"/>
                </a:solidFill>
                <a:latin typeface="Yu Gothic"/>
                <a:ea typeface="Yu Gothic"/>
              </a:rPr>
              <a:t>固定費なしで完全に売上連動。初期コストを抑えてスタートしたいパートナー向け。新規チャネル開拓・テストマーケに最適。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03520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E6E6E"/>
                </a:solidFill>
                <a:latin typeface="Yu Gothic"/>
                <a:ea typeface="Yu Gothic"/>
              </a:rPr>
              <a:t>※コラボに伴い当社で制作物が発生する場合(特設LP・限定キャラ等)は、別途お見積もりにて対応します。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0644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0609E"/>
                </a:solidFill>
                <a:latin typeface="Yu Gothic"/>
                <a:ea typeface="Yu Gothic"/>
              </a:rPr>
              <a:t>成果報酬型なら、初期費用ゼロ・在庫リスク最小でIPコラボを試せます。まずはテスト導入からでも。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57508" y="0"/>
            <a:ext cx="8534187" cy="6858000"/>
          </a:xfrm>
          <a:custGeom>
            <a:avLst/>
            <a:gdLst/>
            <a:ahLst/>
            <a:cxnLst/>
            <a:rect l="l" t="t" r="r" b="b"/>
            <a:pathLst>
              <a:path w="8534187" h="6858000">
                <a:moveTo>
                  <a:pt x="3901342" y="0"/>
                </a:moveTo>
                <a:lnTo>
                  <a:pt x="8534187" y="0"/>
                </a:lnTo>
                <a:lnTo>
                  <a:pt x="85341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LoveChara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66928"/>
            <a:ext cx="11365992" cy="598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0609E"/>
                </a:solidFill>
                <a:latin typeface="Yu Gothic"/>
                <a:ea typeface="Yu Gothic"/>
              </a:rPr>
              <a:t>まずは、30分のディスカッションから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00200"/>
            <a:ext cx="1911095" cy="237744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01368"/>
            <a:ext cx="1453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0609E"/>
                </a:solidFill>
                <a:latin typeface="Yu Gothic"/>
                <a:ea typeface="Yu Gothic"/>
              </a:rPr>
              <a:t>01  </a:t>
            </a:r>
            <a:r>
              <a:rPr sz="1150" b="1">
                <a:solidFill>
                  <a:srgbClr val="3A3A3A"/>
                </a:solidFill>
                <a:latin typeface="Yu Gothic"/>
                <a:ea typeface="Yu Gothic"/>
              </a:rPr>
              <a:t>初回面談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14538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3A3A3A"/>
                </a:solidFill>
                <a:latin typeface="Yu Gothic"/>
                <a:ea typeface="Yu Gothic"/>
              </a:rPr>
              <a:t>課題、商材、販路、既存導線を確認。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08376" y="1600200"/>
            <a:ext cx="1911095" cy="237744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6976" y="1801368"/>
            <a:ext cx="1453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4FC3E0"/>
                </a:solidFill>
                <a:latin typeface="Yu Gothic"/>
                <a:ea typeface="Yu Gothic"/>
              </a:rPr>
              <a:t>02  </a:t>
            </a:r>
            <a:r>
              <a:rPr sz="1150" b="1">
                <a:solidFill>
                  <a:srgbClr val="3A3A3A"/>
                </a:solidFill>
                <a:latin typeface="Yu Gothic"/>
                <a:ea typeface="Yu Gothic"/>
              </a:rPr>
              <a:t>活用領域確認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377440"/>
            <a:ext cx="14538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3A3A3A"/>
                </a:solidFill>
                <a:latin typeface="Yu Gothic"/>
                <a:ea typeface="Yu Gothic"/>
              </a:rPr>
              <a:t>商品、店舗、アプリ、メディアのどこで使うか整理。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8072" y="1600200"/>
            <a:ext cx="1911095" cy="2377440"/>
          </a:xfrm>
          <a:prstGeom prst="roundRect">
            <a:avLst>
              <a:gd name="adj" fmla="val 7000"/>
            </a:avLst>
          </a:prstGeom>
          <a:solidFill>
            <a:srgbClr val="E8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1801368"/>
            <a:ext cx="1453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BB8A8"/>
                </a:solidFill>
                <a:latin typeface="Yu Gothic"/>
                <a:ea typeface="Yu Gothic"/>
              </a:rPr>
              <a:t>03  </a:t>
            </a:r>
            <a:r>
              <a:rPr sz="1150" b="1">
                <a:solidFill>
                  <a:srgbClr val="3A3A3A"/>
                </a:solidFill>
                <a:latin typeface="Yu Gothic"/>
                <a:ea typeface="Yu Gothic"/>
              </a:rPr>
              <a:t>企画案作成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377440"/>
            <a:ext cx="14538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3A3A3A"/>
                </a:solidFill>
                <a:latin typeface="Yu Gothic"/>
                <a:ea typeface="Yu Gothic"/>
              </a:rPr>
              <a:t>貴社の企画案をもとに当社が監修。診断体験・商品・SNS導線を具体化。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7768" y="1600200"/>
            <a:ext cx="1911095" cy="2377440"/>
          </a:xfrm>
          <a:prstGeom prst="roundRect">
            <a:avLst>
              <a:gd name="adj" fmla="val 7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1801368"/>
            <a:ext cx="1453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9B7FD4"/>
                </a:solidFill>
                <a:latin typeface="Yu Gothic"/>
                <a:ea typeface="Yu Gothic"/>
              </a:rPr>
              <a:t>04  </a:t>
            </a:r>
            <a:r>
              <a:rPr sz="1150" b="1">
                <a:solidFill>
                  <a:srgbClr val="3A3A3A"/>
                </a:solidFill>
                <a:latin typeface="Yu Gothic"/>
                <a:ea typeface="Yu Gothic"/>
              </a:rPr>
              <a:t>条件調整・お見積もり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2377440"/>
            <a:ext cx="14538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3A3A3A"/>
                </a:solidFill>
                <a:latin typeface="Yu Gothic"/>
                <a:ea typeface="Yu Gothic"/>
              </a:rPr>
              <a:t>使用範囲、期間、費用、契約条件を確認。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27463" y="1600200"/>
            <a:ext cx="1911095" cy="2377440"/>
          </a:xfrm>
          <a:prstGeom prst="roundRect">
            <a:avLst>
              <a:gd name="adj" fmla="val 7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3" y="1801368"/>
            <a:ext cx="1453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0609E"/>
                </a:solidFill>
                <a:latin typeface="Yu Gothic"/>
                <a:ea typeface="Yu Gothic"/>
              </a:rPr>
              <a:t>05  </a:t>
            </a:r>
            <a:r>
              <a:rPr sz="1150" b="1">
                <a:solidFill>
                  <a:srgbClr val="3A3A3A"/>
                </a:solidFill>
                <a:latin typeface="Yu Gothic"/>
                <a:ea typeface="Yu Gothic"/>
              </a:rPr>
              <a:t>制作・展開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6063" y="2377440"/>
            <a:ext cx="14538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3A3A3A"/>
                </a:solidFill>
                <a:latin typeface="Yu Gothic"/>
                <a:ea typeface="Yu Gothic"/>
              </a:rPr>
              <a:t>素材提供、制作、展開、効果確認へ。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206240"/>
            <a:ext cx="10469880" cy="685800"/>
          </a:xfrm>
          <a:prstGeom prst="roundRect">
            <a:avLst>
              <a:gd name="adj" fmla="val 30000"/>
            </a:avLst>
          </a:prstGeom>
          <a:solidFill>
            <a:srgbClr val="FF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3159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0609E"/>
                </a:solidFill>
                <a:latin typeface="Yu Gothic"/>
                <a:ea typeface="Yu Gothic"/>
              </a:rPr>
              <a:t>まずは30分のディスカッションで、貴社のサービス・店舗・商品に合うコラボ案を整理します。お気軽にお問い合わせください。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074920"/>
            <a:ext cx="10469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3A3A3A"/>
                </a:solidFill>
                <a:latin typeface="Yu Gothic"/>
                <a:ea typeface="Yu Gothic"/>
              </a:rPr>
              <a:t>株式会社ラブキャラ / LoveChara Inc.(設立:2025年10月)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事業内容:キャラクターIP事業/恋愛アプリケーション事業/IP活用マーケティング支援事業/Z世代特化広告代理事業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中核IP:ラブタイプ診断(累計約8,000万回利用/広告費ゼロ)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3A3A3A"/>
                </a:solidFill>
                <a:latin typeface="Yu Gothic"/>
                <a:ea typeface="Yu Gothic"/>
              </a:rPr>
              <a:t>公式サイト:lovechara.jp | X:@lovechara64 / Instagram:@lovechara64 / LINE公式:友だち40万人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